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61A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822960" y="1600200"/>
            <a:ext cx="6400800" cy="11887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7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VOYARA</a:t>
            </a:r>
            <a:endParaRPr lang="en-US" sz="76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2788920"/>
            <a:ext cx="6400800" cy="8229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D2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design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3657600"/>
            <a:ext cx="6309360" cy="10972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MERN travel and booking portal for India: pick the places you want to see, then book stays right next to them.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822960" y="5166360"/>
            <a:ext cx="1828800" cy="411480"/>
          </a:xfrm>
          <a:prstGeom prst="roundRect">
            <a:avLst>
              <a:gd name="adj" fmla="val 50000"/>
            </a:avLst>
          </a:prstGeom>
          <a:solidFill>
            <a:srgbClr val="123A7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5166360"/>
            <a:ext cx="1828800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 states and UTs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788920" y="5166360"/>
            <a:ext cx="1828800" cy="411480"/>
          </a:xfrm>
          <a:prstGeom prst="roundRect">
            <a:avLst>
              <a:gd name="adj" fmla="val 50000"/>
            </a:avLst>
          </a:prstGeom>
          <a:solidFill>
            <a:srgbClr val="123A7A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2788920" y="5166360"/>
            <a:ext cx="1828800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234 landmarks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754880" y="5166360"/>
            <a:ext cx="2286000" cy="411480"/>
          </a:xfrm>
          <a:prstGeom prst="roundRect">
            <a:avLst>
              <a:gd name="adj" fmla="val 50000"/>
            </a:avLst>
          </a:prstGeom>
          <a:solidFill>
            <a:srgbClr val="123A7A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754880" y="5166360"/>
            <a:ext cx="2286000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room types per stay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863840" y="1417320"/>
            <a:ext cx="3749040" cy="1097280"/>
          </a:xfrm>
          <a:prstGeom prst="roundRect">
            <a:avLst>
              <a:gd name="adj" fmla="val 13333"/>
            </a:avLst>
          </a:prstGeom>
          <a:solidFill>
            <a:srgbClr val="0F55C8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092440" y="1545336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18 + Vite</a:t>
            </a:r>
            <a:endParaRPr lang="en-US" sz="2200" dirty="0"/>
          </a:p>
        </p:txBody>
      </p:sp>
      <p:sp>
        <p:nvSpPr>
          <p:cNvPr id="13" name="Text 11"/>
          <p:cNvSpPr txBox="1"/>
          <p:nvPr/>
        </p:nvSpPr>
        <p:spPr>
          <a:xfrm>
            <a:off x="8092440" y="201168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EA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Browser: pages, router, live price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7863840" y="2880360"/>
            <a:ext cx="3749040" cy="1097280"/>
          </a:xfrm>
          <a:prstGeom prst="roundRect">
            <a:avLst>
              <a:gd name="adj" fmla="val 13333"/>
            </a:avLst>
          </a:prstGeom>
          <a:solidFill>
            <a:srgbClr val="1E6DF0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092440" y="3008376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 4 + Mongoose 8</a:t>
            </a:r>
            <a:endParaRPr lang="en-US" sz="2200" dirty="0"/>
          </a:p>
        </p:txBody>
      </p:sp>
      <p:sp>
        <p:nvSpPr>
          <p:cNvPr id="16" name="Text 14"/>
          <p:cNvSpPr txBox="1"/>
          <p:nvPr/>
        </p:nvSpPr>
        <p:spPr>
          <a:xfrm>
            <a:off x="8092440" y="347472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EA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API: auth, pricing, bookings, payments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7863840" y="4343400"/>
            <a:ext cx="3749040" cy="1097280"/>
          </a:xfrm>
          <a:prstGeom prst="roundRect">
            <a:avLst>
              <a:gd name="adj" fmla="val 13333"/>
            </a:avLst>
          </a:prstGeom>
          <a:solidFill>
            <a:srgbClr val="F26A1B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8092440" y="4471416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</a:t>
            </a:r>
            <a:endParaRPr lang="en-US" sz="2200" dirty="0"/>
          </a:p>
        </p:txBody>
      </p:sp>
      <p:sp>
        <p:nvSpPr>
          <p:cNvPr id="19" name="Text 17"/>
          <p:cNvSpPr txBox="1"/>
          <p:nvPr/>
        </p:nvSpPr>
        <p:spPr>
          <a:xfrm>
            <a:off x="8092440" y="493776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EA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Data: users, stays, rooms, bookings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9738360" y="2514600"/>
            <a:ext cx="0" cy="365760"/>
          </a:xfrm>
          <a:prstGeom prst="line">
            <a:avLst/>
          </a:prstGeom>
          <a:noFill/>
          <a:ln w="31750">
            <a:solidFill>
              <a:srgbClr val="FFD24D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9738360" y="3977640"/>
            <a:ext cx="0" cy="365760"/>
          </a:xfrm>
          <a:prstGeom prst="line">
            <a:avLst/>
          </a:prstGeom>
          <a:noFill/>
          <a:ln w="31750">
            <a:solidFill>
              <a:srgbClr val="FFD24D"/>
            </a:solidFill>
            <a:prstDash val="solid"/>
            <a:tailEnd type="triangle"/>
          </a:ln>
        </p:spPr>
      </p:sp>
      <p:sp>
        <p:nvSpPr>
          <p:cNvPr id="22" name="Text 20"/>
          <p:cNvSpPr txBox="1"/>
          <p:nvPr/>
        </p:nvSpPr>
        <p:spPr>
          <a:xfrm>
            <a:off x="822960" y="62636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FA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from the project's code and docs (ARCHITECTURE.md, docs/SYSTEM_DESIGN.md)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48640" y="292608"/>
            <a:ext cx="11064240" cy="6858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A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VOYARA does, and the rules it keeps</a:t>
            </a:r>
            <a:endParaRPr lang="en-US" sz="3000" dirty="0"/>
          </a:p>
        </p:txBody>
      </p:sp>
      <p:sp>
        <p:nvSpPr>
          <p:cNvPr id="3" name="subtitle"/>
          <p:cNvSpPr txBox="1"/>
          <p:nvPr/>
        </p:nvSpPr>
        <p:spPr>
          <a:xfrm>
            <a:off x="548640" y="932688"/>
            <a:ext cx="11064240" cy="4114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jobs for the system, four rules that never bend</a:t>
            </a:r>
            <a:endParaRPr lang="en-US" sz="1600" dirty="0"/>
          </a:p>
        </p:txBody>
      </p:sp>
      <p:sp>
        <p:nvSpPr>
          <p:cNvPr id="4" name="footer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VOYARA  ·  System design</a:t>
            </a:r>
            <a:endParaRPr lang="en-US" sz="1000" dirty="0"/>
          </a:p>
        </p:txBody>
      </p:sp>
      <p:sp>
        <p:nvSpPr>
          <p:cNvPr id="5" name="page"/>
          <p:cNvSpPr txBox="1"/>
          <p:nvPr/>
        </p:nvSpPr>
        <p:spPr>
          <a:xfrm>
            <a:off x="10908792" y="6446520"/>
            <a:ext cx="73152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481328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F5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system must do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548640" y="1938528"/>
            <a:ext cx="5577840" cy="73152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D5E1F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85800" y="2066544"/>
            <a:ext cx="475488" cy="475488"/>
          </a:xfrm>
          <a:prstGeom prst="ellipse">
            <a:avLst/>
          </a:prstGeom>
          <a:solidFill>
            <a:srgbClr val="0F55C8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85800" y="206654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325880" y="1938528"/>
            <a:ext cx="4709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 all 36 states and union territories and pick the places to visit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48640" y="2788920"/>
            <a:ext cx="5577840" cy="73152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D5E1F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85800" y="2916936"/>
            <a:ext cx="475488" cy="475488"/>
          </a:xfrm>
          <a:prstGeom prst="ellipse">
            <a:avLst/>
          </a:prstGeom>
          <a:solidFill>
            <a:srgbClr val="0F55C8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85800" y="291693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325880" y="2788920"/>
            <a:ext cx="4709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hotels near those places, with real distances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548640" y="3639312"/>
            <a:ext cx="5577840" cy="73152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D5E1F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85800" y="3767328"/>
            <a:ext cx="475488" cy="475488"/>
          </a:xfrm>
          <a:prstGeom prst="ellipse">
            <a:avLst/>
          </a:prstGeom>
          <a:solidFill>
            <a:srgbClr val="0F55C8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85800" y="376732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1325880" y="3639312"/>
            <a:ext cx="4709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room, dates, meals, travel and activities for one correct price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548640" y="4489704"/>
            <a:ext cx="5577840" cy="73152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D5E1F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85800" y="4617720"/>
            <a:ext cx="475488" cy="475488"/>
          </a:xfrm>
          <a:prstGeom prst="ellipse">
            <a:avLst/>
          </a:prstGeom>
          <a:solidFill>
            <a:srgbClr val="0F55C8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85800" y="461772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1325880" y="4489704"/>
            <a:ext cx="4709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 a booking, take a payment, cancel with the right refund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548640" y="5340096"/>
            <a:ext cx="5577840" cy="73152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D5E1F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85800" y="5468112"/>
            <a:ext cx="475488" cy="475488"/>
          </a:xfrm>
          <a:prstGeom prst="ellipse">
            <a:avLst/>
          </a:prstGeom>
          <a:solidFill>
            <a:srgbClr val="0F55C8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685800" y="546811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1325880" y="5340096"/>
            <a:ext cx="4709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admins bookings, revenue and traveler tools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6492240" y="1481328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26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rules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6492240" y="1938528"/>
            <a:ext cx="5120640" cy="987552"/>
          </a:xfrm>
          <a:prstGeom prst="roundRect">
            <a:avLst>
              <a:gd name="adj" fmla="val 12963"/>
            </a:avLst>
          </a:prstGeom>
          <a:solidFill>
            <a:srgbClr val="FFF1E6"/>
          </a:solidFill>
          <a:ln w="12700">
            <a:solidFill>
              <a:srgbClr val="F7D9C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9" name="Text 27"/>
          <p:cNvSpPr txBox="1"/>
          <p:nvPr/>
        </p:nvSpPr>
        <p:spPr>
          <a:xfrm>
            <a:off x="6656832" y="2070202"/>
            <a:ext cx="47914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A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server decides the price</a:t>
            </a:r>
            <a:endParaRPr lang="en-US" sz="1600" dirty="0"/>
          </a:p>
        </p:txBody>
      </p:sp>
      <p:sp>
        <p:nvSpPr>
          <p:cNvPr id="30" name="Text 28"/>
          <p:cNvSpPr txBox="1"/>
          <p:nvPr/>
        </p:nvSpPr>
        <p:spPr>
          <a:xfrm>
            <a:off x="6656832" y="2399386"/>
            <a:ext cx="4791456" cy="4279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browser sends choices only. Every amount is worked out on the server.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6492240" y="3017520"/>
            <a:ext cx="5120640" cy="987552"/>
          </a:xfrm>
          <a:prstGeom prst="roundRect">
            <a:avLst>
              <a:gd name="adj" fmla="val 12963"/>
            </a:avLst>
          </a:prstGeom>
          <a:solidFill>
            <a:srgbClr val="FFFFFF"/>
          </a:solidFill>
          <a:ln w="12700">
            <a:solidFill>
              <a:srgbClr val="D5E1F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32" name="Text 30"/>
          <p:cNvSpPr txBox="1"/>
          <p:nvPr/>
        </p:nvSpPr>
        <p:spPr>
          <a:xfrm>
            <a:off x="6656832" y="3149194"/>
            <a:ext cx="47914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A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Outside data is a helper</a:t>
            </a:r>
            <a:endParaRPr lang="en-US" sz="1600" dirty="0"/>
          </a:p>
        </p:txBody>
      </p:sp>
      <p:sp>
        <p:nvSpPr>
          <p:cNvPr id="33" name="Text 31"/>
          <p:cNvSpPr txBox="1"/>
          <p:nvPr/>
        </p:nvSpPr>
        <p:spPr>
          <a:xfrm>
            <a:off x="6656832" y="3478378"/>
            <a:ext cx="4791456" cy="4279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 map service is slow, curated places and saved hotels still work.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6492240" y="4096512"/>
            <a:ext cx="5120640" cy="987552"/>
          </a:xfrm>
          <a:prstGeom prst="roundRect">
            <a:avLst>
              <a:gd name="adj" fmla="val 12963"/>
            </a:avLst>
          </a:prstGeom>
          <a:solidFill>
            <a:srgbClr val="FFF1E6"/>
          </a:solidFill>
          <a:ln w="12700">
            <a:solidFill>
              <a:srgbClr val="F7D9C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35" name="Text 33"/>
          <p:cNvSpPr txBox="1"/>
          <p:nvPr/>
        </p:nvSpPr>
        <p:spPr>
          <a:xfrm>
            <a:off x="6656832" y="4228186"/>
            <a:ext cx="47914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A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data where it exists</a:t>
            </a:r>
            <a:endParaRPr lang="en-US" sz="1600" dirty="0"/>
          </a:p>
        </p:txBody>
      </p:sp>
      <p:sp>
        <p:nvSpPr>
          <p:cNvPr id="36" name="Text 34"/>
          <p:cNvSpPr txBox="1"/>
          <p:nvPr/>
        </p:nvSpPr>
        <p:spPr>
          <a:xfrm>
            <a:off x="6656832" y="4557370"/>
            <a:ext cx="4791456" cy="4279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Hotels and places are real. Prices and most amenities are generated, but stable.</a:t>
            </a:r>
            <a:endParaRPr lang="en-US" sz="1400" dirty="0"/>
          </a:p>
        </p:txBody>
      </p:sp>
      <p:sp>
        <p:nvSpPr>
          <p:cNvPr id="37" name="Shape 35"/>
          <p:cNvSpPr/>
          <p:nvPr/>
        </p:nvSpPr>
        <p:spPr>
          <a:xfrm>
            <a:off x="6492240" y="5175504"/>
            <a:ext cx="5120640" cy="987552"/>
          </a:xfrm>
          <a:prstGeom prst="roundRect">
            <a:avLst>
              <a:gd name="adj" fmla="val 12963"/>
            </a:avLst>
          </a:prstGeom>
          <a:solidFill>
            <a:srgbClr val="FFFFFF"/>
          </a:solidFill>
          <a:ln w="12700">
            <a:solidFill>
              <a:srgbClr val="D5E1F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38" name="Text 36"/>
          <p:cNvSpPr txBox="1"/>
          <p:nvPr/>
        </p:nvSpPr>
        <p:spPr>
          <a:xfrm>
            <a:off x="6656832" y="5307178"/>
            <a:ext cx="47914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A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by default</a:t>
            </a:r>
            <a:endParaRPr lang="en-US" sz="1600" dirty="0"/>
          </a:p>
        </p:txBody>
      </p:sp>
      <p:sp>
        <p:nvSpPr>
          <p:cNvPr id="39" name="Text 37"/>
          <p:cNvSpPr txBox="1"/>
          <p:nvPr/>
        </p:nvSpPr>
        <p:spPr>
          <a:xfrm>
            <a:off x="6656832" y="5636362"/>
            <a:ext cx="4791456" cy="4279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Strict headers, rate limits, input cleaning and a locked-down upload route.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48640" y="292608"/>
            <a:ext cx="11064240" cy="6858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A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at a glance</a:t>
            </a:r>
            <a:endParaRPr lang="en-US" sz="3000" dirty="0"/>
          </a:p>
        </p:txBody>
      </p:sp>
      <p:sp>
        <p:nvSpPr>
          <p:cNvPr id="3" name="subtitle"/>
          <p:cNvSpPr txBox="1"/>
          <p:nvPr/>
        </p:nvSpPr>
        <p:spPr>
          <a:xfrm>
            <a:off x="548640" y="932688"/>
            <a:ext cx="11064240" cy="4114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Express API sits between the website, the database and the outside services</a:t>
            </a:r>
            <a:endParaRPr lang="en-US" sz="1600" dirty="0"/>
          </a:p>
        </p:txBody>
      </p:sp>
      <p:sp>
        <p:nvSpPr>
          <p:cNvPr id="4" name="footer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VOYARA  ·  System design</a:t>
            </a:r>
            <a:endParaRPr lang="en-US" sz="1000" dirty="0"/>
          </a:p>
        </p:txBody>
      </p:sp>
      <p:sp>
        <p:nvSpPr>
          <p:cNvPr id="5" name="page"/>
          <p:cNvSpPr txBox="1"/>
          <p:nvPr/>
        </p:nvSpPr>
        <p:spPr>
          <a:xfrm>
            <a:off x="10908792" y="6446520"/>
            <a:ext cx="73152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2880360"/>
            <a:ext cx="1783080" cy="1463040"/>
          </a:xfrm>
          <a:prstGeom prst="roundRect">
            <a:avLst>
              <a:gd name="adj" fmla="val 8750"/>
            </a:avLst>
          </a:prstGeom>
          <a:solidFill>
            <a:srgbClr val="FFFFFF"/>
          </a:solidFill>
          <a:ln w="12700">
            <a:solidFill>
              <a:srgbClr val="D5E1F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594360" y="2990088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A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Traveler or admin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594360" y="3465576"/>
            <a:ext cx="150876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Browser, phone or desktop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240280" y="3611880"/>
            <a:ext cx="594360" cy="0"/>
          </a:xfrm>
          <a:prstGeom prst="line">
            <a:avLst/>
          </a:prstGeom>
          <a:noFill/>
          <a:ln w="28575">
            <a:solidFill>
              <a:srgbClr val="0F55C8"/>
            </a:solidFill>
            <a:prstDash val="solid"/>
            <a:tailEnd type="triangle"/>
          </a:ln>
        </p:spPr>
      </p:sp>
      <p:sp>
        <p:nvSpPr>
          <p:cNvPr id="10" name="Text 8"/>
          <p:cNvSpPr txBox="1"/>
          <p:nvPr/>
        </p:nvSpPr>
        <p:spPr>
          <a:xfrm>
            <a:off x="2103120" y="3200400"/>
            <a:ext cx="868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834640" y="2468880"/>
            <a:ext cx="2606040" cy="2286000"/>
          </a:xfrm>
          <a:prstGeom prst="roundRect">
            <a:avLst>
              <a:gd name="adj" fmla="val 5600"/>
            </a:avLst>
          </a:prstGeom>
          <a:solidFill>
            <a:srgbClr val="EAF2FF"/>
          </a:solidFill>
          <a:ln w="12700">
            <a:solidFill>
              <a:srgbClr val="BBD3F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2999232" y="2600554"/>
            <a:ext cx="22768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A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website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2999232" y="2984602"/>
            <a:ext cx="2276856" cy="16715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18 · Vite 6</a:t>
            </a:r>
            <a:endParaRPr lang="en-US" sz="140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Router 7 · Axios</a:t>
            </a:r>
            <a:endParaRPr lang="en-US" sz="140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lazy-loaded pages</a:t>
            </a:r>
            <a:endParaRPr lang="en-US" sz="140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price and trip cart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440680" y="3611880"/>
            <a:ext cx="731520" cy="0"/>
          </a:xfrm>
          <a:prstGeom prst="line">
            <a:avLst/>
          </a:prstGeom>
          <a:noFill/>
          <a:ln w="28575">
            <a:solidFill>
              <a:srgbClr val="0F55C8"/>
            </a:solidFill>
            <a:prstDash val="solid"/>
            <a:tailEnd type="triangle"/>
          </a:ln>
        </p:spPr>
      </p:sp>
      <p:sp>
        <p:nvSpPr>
          <p:cNvPr id="15" name="Text 13"/>
          <p:cNvSpPr txBox="1"/>
          <p:nvPr/>
        </p:nvSpPr>
        <p:spPr>
          <a:xfrm>
            <a:off x="5394960" y="3108960"/>
            <a:ext cx="777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+ JSON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/api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172200" y="2103120"/>
            <a:ext cx="2468880" cy="3017520"/>
          </a:xfrm>
          <a:prstGeom prst="roundRect">
            <a:avLst>
              <a:gd name="adj" fmla="val 5185"/>
            </a:avLst>
          </a:prstGeom>
          <a:solidFill>
            <a:srgbClr val="0A2A5E"/>
          </a:solidFill>
          <a:ln w="12700">
            <a:solidFill>
              <a:srgbClr val="0A2A5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6336792" y="2234794"/>
            <a:ext cx="21396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 API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6336792" y="2618842"/>
            <a:ext cx="2139696" cy="24030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 18+ · Express 4</a:t>
            </a:r>
            <a:endParaRPr lang="en-US" sz="140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routes, controllers,</a:t>
            </a:r>
            <a:endParaRPr lang="en-US" sz="140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services, models</a:t>
            </a:r>
            <a:endParaRPr lang="en-US" sz="140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login · rate limits</a:t>
            </a:r>
            <a:endParaRPr lang="en-US" sz="140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 · availability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8641080" y="3611880"/>
            <a:ext cx="301752" cy="0"/>
          </a:xfrm>
          <a:prstGeom prst="line">
            <a:avLst/>
          </a:prstGeom>
          <a:noFill/>
          <a:ln w="28575">
            <a:solidFill>
              <a:srgbClr val="0F55C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942832" y="1828800"/>
            <a:ext cx="0" cy="3950208"/>
          </a:xfrm>
          <a:prstGeom prst="line">
            <a:avLst/>
          </a:prstGeom>
          <a:noFill/>
          <a:ln w="28575">
            <a:solidFill>
              <a:srgbClr val="0F55C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942832" y="1828800"/>
            <a:ext cx="292608" cy="0"/>
          </a:xfrm>
          <a:prstGeom prst="line">
            <a:avLst/>
          </a:prstGeom>
          <a:noFill/>
          <a:ln w="28575">
            <a:solidFill>
              <a:srgbClr val="0F55C8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9235440" y="1554480"/>
            <a:ext cx="2514600" cy="548640"/>
          </a:xfrm>
          <a:prstGeom prst="roundRect">
            <a:avLst>
              <a:gd name="adj" fmla="val 16667"/>
            </a:avLst>
          </a:prstGeom>
          <a:solidFill>
            <a:srgbClr val="0F55C8"/>
          </a:solidFill>
          <a:ln w="12700">
            <a:solidFill>
              <a:srgbClr val="0F55C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 txBox="1"/>
          <p:nvPr/>
        </p:nvSpPr>
        <p:spPr>
          <a:xfrm>
            <a:off x="9308592" y="1554480"/>
            <a:ext cx="2377440" cy="548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</a:t>
            </a:r>
            <a:endParaRPr lang="en-US" sz="13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EA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Atlas or local: all app data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8942832" y="2487168"/>
            <a:ext cx="292608" cy="0"/>
          </a:xfrm>
          <a:prstGeom prst="line">
            <a:avLst/>
          </a:prstGeom>
          <a:noFill/>
          <a:ln w="28575">
            <a:solidFill>
              <a:srgbClr val="0F55C8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9235440" y="2212848"/>
            <a:ext cx="2514600" cy="5486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5E1F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6" name="Text 24"/>
          <p:cNvSpPr txBox="1"/>
          <p:nvPr/>
        </p:nvSpPr>
        <p:spPr>
          <a:xfrm>
            <a:off x="9308592" y="2212848"/>
            <a:ext cx="2377440" cy="548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A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Geoapify</a:t>
            </a:r>
            <a:endParaRPr lang="en-US" sz="13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City search, places, hotels, food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8942832" y="3145536"/>
            <a:ext cx="292608" cy="0"/>
          </a:xfrm>
          <a:prstGeom prst="line">
            <a:avLst/>
          </a:prstGeom>
          <a:noFill/>
          <a:ln w="28575">
            <a:solidFill>
              <a:srgbClr val="0F55C8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9235440" y="2871216"/>
            <a:ext cx="2514600" cy="5486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5E1F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9" name="Text 27"/>
          <p:cNvSpPr txBox="1"/>
          <p:nvPr/>
        </p:nvSpPr>
        <p:spPr>
          <a:xfrm>
            <a:off x="9308592" y="2871216"/>
            <a:ext cx="2377440" cy="548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A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Cloudinary</a:t>
            </a:r>
            <a:endParaRPr lang="en-US" sz="13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and serve photos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8942832" y="3803904"/>
            <a:ext cx="292608" cy="0"/>
          </a:xfrm>
          <a:prstGeom prst="line">
            <a:avLst/>
          </a:prstGeom>
          <a:noFill/>
          <a:ln w="28575">
            <a:solidFill>
              <a:srgbClr val="0F55C8"/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9235440" y="3529584"/>
            <a:ext cx="2514600" cy="5486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5E1F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32" name="Text 30"/>
          <p:cNvSpPr txBox="1"/>
          <p:nvPr/>
        </p:nvSpPr>
        <p:spPr>
          <a:xfrm>
            <a:off x="9308592" y="3529584"/>
            <a:ext cx="2377440" cy="548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A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Pexels · Wikimedia</a:t>
            </a:r>
            <a:endParaRPr lang="en-US" sz="13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and place photos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8942832" y="4462272"/>
            <a:ext cx="292608" cy="0"/>
          </a:xfrm>
          <a:prstGeom prst="line">
            <a:avLst/>
          </a:prstGeom>
          <a:noFill/>
          <a:ln w="28575">
            <a:solidFill>
              <a:srgbClr val="0F55C8"/>
            </a:solidFill>
            <a:prstDash val="solid"/>
            <a:tailEnd type="triangle"/>
          </a:ln>
        </p:spPr>
      </p:sp>
      <p:sp>
        <p:nvSpPr>
          <p:cNvPr id="34" name="Shape 32"/>
          <p:cNvSpPr/>
          <p:nvPr/>
        </p:nvSpPr>
        <p:spPr>
          <a:xfrm>
            <a:off x="9235440" y="4187952"/>
            <a:ext cx="2514600" cy="5486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5E1F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35" name="Text 33"/>
          <p:cNvSpPr txBox="1"/>
          <p:nvPr/>
        </p:nvSpPr>
        <p:spPr>
          <a:xfrm>
            <a:off x="9308592" y="4187952"/>
            <a:ext cx="2377440" cy="548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A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Razorpay</a:t>
            </a:r>
            <a:endParaRPr lang="en-US" sz="13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Payments (demo without keys)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8942832" y="5120640"/>
            <a:ext cx="292608" cy="0"/>
          </a:xfrm>
          <a:prstGeom prst="line">
            <a:avLst/>
          </a:prstGeom>
          <a:noFill/>
          <a:ln w="28575">
            <a:solidFill>
              <a:srgbClr val="0F55C8"/>
            </a:solidFill>
            <a:prstDash val="solid"/>
            <a:tailEnd type="triangle"/>
          </a:ln>
        </p:spPr>
      </p:sp>
      <p:sp>
        <p:nvSpPr>
          <p:cNvPr id="37" name="Shape 35"/>
          <p:cNvSpPr/>
          <p:nvPr/>
        </p:nvSpPr>
        <p:spPr>
          <a:xfrm>
            <a:off x="9235440" y="4846320"/>
            <a:ext cx="2514600" cy="5486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5E1F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38" name="Text 36"/>
          <p:cNvSpPr txBox="1"/>
          <p:nvPr/>
        </p:nvSpPr>
        <p:spPr>
          <a:xfrm>
            <a:off x="9308592" y="4846320"/>
            <a:ext cx="2377440" cy="548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A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SMTP (nodemailer)</a:t>
            </a:r>
            <a:endParaRPr lang="en-US" sz="13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 emails, optional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8942832" y="5779008"/>
            <a:ext cx="292608" cy="0"/>
          </a:xfrm>
          <a:prstGeom prst="line">
            <a:avLst/>
          </a:prstGeom>
          <a:noFill/>
          <a:ln w="28575">
            <a:solidFill>
              <a:srgbClr val="0F55C8"/>
            </a:solidFill>
            <a:prstDash val="solid"/>
            <a:tailEnd type="triangle"/>
          </a:ln>
        </p:spPr>
      </p:sp>
      <p:sp>
        <p:nvSpPr>
          <p:cNvPr id="40" name="Shape 38"/>
          <p:cNvSpPr/>
          <p:nvPr/>
        </p:nvSpPr>
        <p:spPr>
          <a:xfrm>
            <a:off x="9235440" y="5504688"/>
            <a:ext cx="2514600" cy="5486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5E1F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41" name="Text 39"/>
          <p:cNvSpPr txBox="1"/>
          <p:nvPr/>
        </p:nvSpPr>
        <p:spPr>
          <a:xfrm>
            <a:off x="9308592" y="5504688"/>
            <a:ext cx="2377440" cy="548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A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 Claude</a:t>
            </a:r>
            <a:endParaRPr lang="en-US" sz="13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Assistant replies, optional</a:t>
            </a:r>
            <a:endParaRPr lang="en-US" sz="1300" dirty="0"/>
          </a:p>
        </p:txBody>
      </p:sp>
      <p:sp>
        <p:nvSpPr>
          <p:cNvPr id="42" name="Text 40"/>
          <p:cNvSpPr txBox="1"/>
          <p:nvPr/>
        </p:nvSpPr>
        <p:spPr>
          <a:xfrm>
            <a:off x="548640" y="548640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production one Node process serves /api and the built website (client/dist), so there is no CORS to manage. In development the website runs on :5173 and the API on :5000.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48640" y="292608"/>
            <a:ext cx="11064240" cy="6858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A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Inside the API server</a:t>
            </a:r>
            <a:endParaRPr lang="en-US" sz="3000" dirty="0"/>
          </a:p>
        </p:txBody>
      </p:sp>
      <p:sp>
        <p:nvSpPr>
          <p:cNvPr id="3" name="subtitle"/>
          <p:cNvSpPr txBox="1"/>
          <p:nvPr/>
        </p:nvSpPr>
        <p:spPr>
          <a:xfrm>
            <a:off x="548640" y="932688"/>
            <a:ext cx="11064240" cy="4114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request walks the same path, and each layer has one job</a:t>
            </a:r>
            <a:endParaRPr lang="en-US" sz="1600" dirty="0"/>
          </a:p>
        </p:txBody>
      </p:sp>
      <p:sp>
        <p:nvSpPr>
          <p:cNvPr id="4" name="footer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VOYARA  ·  System design</a:t>
            </a:r>
            <a:endParaRPr lang="en-US" sz="1000" dirty="0"/>
          </a:p>
        </p:txBody>
      </p:sp>
      <p:sp>
        <p:nvSpPr>
          <p:cNvPr id="5" name="page"/>
          <p:cNvSpPr txBox="1"/>
          <p:nvPr/>
        </p:nvSpPr>
        <p:spPr>
          <a:xfrm>
            <a:off x="10908792" y="6446520"/>
            <a:ext cx="73152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554480"/>
            <a:ext cx="1600200" cy="731520"/>
          </a:xfrm>
          <a:prstGeom prst="roundRect">
            <a:avLst>
              <a:gd name="adj" fmla="val 15000"/>
            </a:avLst>
          </a:prstGeom>
          <a:solidFill>
            <a:srgbClr val="EAF2FF"/>
          </a:solidFill>
          <a:ln w="12700">
            <a:solidFill>
              <a:srgbClr val="BBD3F5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1554480"/>
            <a:ext cx="1600200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helmet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headers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148840" y="1920240"/>
            <a:ext cx="274320" cy="0"/>
          </a:xfrm>
          <a:prstGeom prst="line">
            <a:avLst/>
          </a:prstGeom>
          <a:noFill/>
          <a:ln w="25400">
            <a:solidFill>
              <a:srgbClr val="0F55C8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2423160" y="1554480"/>
            <a:ext cx="1600200" cy="731520"/>
          </a:xfrm>
          <a:prstGeom prst="roundRect">
            <a:avLst>
              <a:gd name="adj" fmla="val 15000"/>
            </a:avLst>
          </a:prstGeom>
          <a:solidFill>
            <a:srgbClr val="EAF2FF"/>
          </a:solidFill>
          <a:ln w="12700">
            <a:solidFill>
              <a:srgbClr val="BBD3F5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423160" y="1554480"/>
            <a:ext cx="1600200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CORS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CLIENT_URL only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023360" y="1920240"/>
            <a:ext cx="274320" cy="0"/>
          </a:xfrm>
          <a:prstGeom prst="line">
            <a:avLst/>
          </a:prstGeom>
          <a:noFill/>
          <a:ln w="25400">
            <a:solidFill>
              <a:srgbClr val="0F55C8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4297680" y="1554480"/>
            <a:ext cx="1600200" cy="731520"/>
          </a:xfrm>
          <a:prstGeom prst="roundRect">
            <a:avLst>
              <a:gd name="adj" fmla="val 15000"/>
            </a:avLst>
          </a:prstGeom>
          <a:solidFill>
            <a:srgbClr val="EAF2FF"/>
          </a:solidFill>
          <a:ln w="12700">
            <a:solidFill>
              <a:srgbClr val="BBD3F5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297680" y="1554480"/>
            <a:ext cx="1600200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compression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gzip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897880" y="1920240"/>
            <a:ext cx="274320" cy="0"/>
          </a:xfrm>
          <a:prstGeom prst="line">
            <a:avLst/>
          </a:prstGeom>
          <a:noFill/>
          <a:ln w="25400">
            <a:solidFill>
              <a:srgbClr val="0F55C8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6172200" y="1554480"/>
            <a:ext cx="1600200" cy="731520"/>
          </a:xfrm>
          <a:prstGeom prst="roundRect">
            <a:avLst>
              <a:gd name="adj" fmla="val 15000"/>
            </a:avLst>
          </a:prstGeom>
          <a:solidFill>
            <a:srgbClr val="EAF2FF"/>
          </a:solidFill>
          <a:ln w="12700">
            <a:solidFill>
              <a:srgbClr val="BBD3F5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172200" y="1554480"/>
            <a:ext cx="1600200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logger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morgan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7772400" y="1920240"/>
            <a:ext cx="274320" cy="0"/>
          </a:xfrm>
          <a:prstGeom prst="line">
            <a:avLst/>
          </a:prstGeom>
          <a:noFill/>
          <a:ln w="25400">
            <a:solidFill>
              <a:srgbClr val="0F55C8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8046720" y="1554480"/>
            <a:ext cx="1600200" cy="731520"/>
          </a:xfrm>
          <a:prstGeom prst="roundRect">
            <a:avLst>
              <a:gd name="adj" fmla="val 15000"/>
            </a:avLst>
          </a:prstGeom>
          <a:solidFill>
            <a:srgbClr val="EAF2FF"/>
          </a:solidFill>
          <a:ln w="12700">
            <a:solidFill>
              <a:srgbClr val="BBD3F5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046720" y="1554480"/>
            <a:ext cx="1600200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body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100 kb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9646920" y="1920240"/>
            <a:ext cx="274320" cy="0"/>
          </a:xfrm>
          <a:prstGeom prst="line">
            <a:avLst/>
          </a:prstGeom>
          <a:noFill/>
          <a:ln w="25400">
            <a:solidFill>
              <a:srgbClr val="0F55C8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9921240" y="1554480"/>
            <a:ext cx="1600200" cy="731520"/>
          </a:xfrm>
          <a:prstGeom prst="roundRect">
            <a:avLst>
              <a:gd name="adj" fmla="val 15000"/>
            </a:avLst>
          </a:prstGeom>
          <a:solidFill>
            <a:srgbClr val="EAF2FF"/>
          </a:solidFill>
          <a:ln w="12700">
            <a:solidFill>
              <a:srgbClr val="BBD3F5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9921240" y="1554480"/>
            <a:ext cx="1600200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sanitizeInput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drops $ and . keys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548640" y="2697480"/>
            <a:ext cx="1600200" cy="731520"/>
          </a:xfrm>
          <a:prstGeom prst="roundRect">
            <a:avLst>
              <a:gd name="adj" fmla="val 15000"/>
            </a:avLst>
          </a:prstGeom>
          <a:solidFill>
            <a:srgbClr val="EAF2FF"/>
          </a:solidFill>
          <a:ln w="12700">
            <a:solidFill>
              <a:srgbClr val="BBD3F5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548640" y="2697480"/>
            <a:ext cx="1600200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limiter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route group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2148840" y="3063240"/>
            <a:ext cx="274320" cy="0"/>
          </a:xfrm>
          <a:prstGeom prst="line">
            <a:avLst/>
          </a:prstGeom>
          <a:noFill/>
          <a:ln w="25400">
            <a:solidFill>
              <a:srgbClr val="0F55C8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2423160" y="2697480"/>
            <a:ext cx="1600200" cy="731520"/>
          </a:xfrm>
          <a:prstGeom prst="roundRect">
            <a:avLst>
              <a:gd name="adj" fmla="val 15000"/>
            </a:avLst>
          </a:prstGeom>
          <a:solidFill>
            <a:srgbClr val="EAF2FF"/>
          </a:solidFill>
          <a:ln w="12700">
            <a:solidFill>
              <a:srgbClr val="BBD3F5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2423160" y="2697480"/>
            <a:ext cx="1600200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 + method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4023360" y="3063240"/>
            <a:ext cx="274320" cy="0"/>
          </a:xfrm>
          <a:prstGeom prst="line">
            <a:avLst/>
          </a:prstGeom>
          <a:noFill/>
          <a:ln w="25400">
            <a:solidFill>
              <a:srgbClr val="0F55C8"/>
            </a:solidFill>
            <a:prstDash val="solid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4297680" y="2697480"/>
            <a:ext cx="1600200" cy="731520"/>
          </a:xfrm>
          <a:prstGeom prst="roundRect">
            <a:avLst>
              <a:gd name="adj" fmla="val 15000"/>
            </a:avLst>
          </a:prstGeom>
          <a:solidFill>
            <a:srgbClr val="EAF2FF"/>
          </a:solidFill>
          <a:ln w="12700">
            <a:solidFill>
              <a:srgbClr val="BBD3F5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4297680" y="2697480"/>
            <a:ext cx="1600200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check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5897880" y="3063240"/>
            <a:ext cx="274320" cy="0"/>
          </a:xfrm>
          <a:prstGeom prst="line">
            <a:avLst/>
          </a:prstGeom>
          <a:noFill/>
          <a:ln w="25400">
            <a:solidFill>
              <a:srgbClr val="0F55C8"/>
            </a:solidFill>
            <a:prstDash val="solid"/>
            <a:tailEnd type="triangle"/>
          </a:ln>
        </p:spPr>
      </p:sp>
      <p:sp>
        <p:nvSpPr>
          <p:cNvPr id="32" name="Shape 30"/>
          <p:cNvSpPr/>
          <p:nvPr/>
        </p:nvSpPr>
        <p:spPr>
          <a:xfrm>
            <a:off x="6172200" y="2697480"/>
            <a:ext cx="1600200" cy="731520"/>
          </a:xfrm>
          <a:prstGeom prst="roundRect">
            <a:avLst>
              <a:gd name="adj" fmla="val 15000"/>
            </a:avLst>
          </a:prstGeom>
          <a:solidFill>
            <a:srgbClr val="EAF2FF"/>
          </a:solidFill>
          <a:ln w="12700">
            <a:solidFill>
              <a:srgbClr val="BBD3F5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6172200" y="2697480"/>
            <a:ext cx="1600200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adminOnly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from database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7772400" y="3063240"/>
            <a:ext cx="274320" cy="0"/>
          </a:xfrm>
          <a:prstGeom prst="line">
            <a:avLst/>
          </a:prstGeom>
          <a:noFill/>
          <a:ln w="25400">
            <a:solidFill>
              <a:srgbClr val="0F55C8"/>
            </a:solidFill>
            <a:prstDash val="solid"/>
            <a:tailEnd type="triangle"/>
          </a:ln>
        </p:spPr>
      </p:sp>
      <p:sp>
        <p:nvSpPr>
          <p:cNvPr id="35" name="Shape 33"/>
          <p:cNvSpPr/>
          <p:nvPr/>
        </p:nvSpPr>
        <p:spPr>
          <a:xfrm>
            <a:off x="8046720" y="2697480"/>
            <a:ext cx="1600200" cy="731520"/>
          </a:xfrm>
          <a:prstGeom prst="roundRect">
            <a:avLst>
              <a:gd name="adj" fmla="val 15000"/>
            </a:avLst>
          </a:prstGeom>
          <a:solidFill>
            <a:srgbClr val="0A2A5E"/>
          </a:solidFill>
          <a:ln w="12700">
            <a:solidFill>
              <a:srgbClr val="0A2A5E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8046720" y="2697480"/>
            <a:ext cx="1600200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controller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validate, respond</a:t>
            </a:r>
            <a:endParaRPr lang="en-US" sz="1400" dirty="0"/>
          </a:p>
        </p:txBody>
      </p:sp>
      <p:sp>
        <p:nvSpPr>
          <p:cNvPr id="37" name="Shape 35"/>
          <p:cNvSpPr/>
          <p:nvPr/>
        </p:nvSpPr>
        <p:spPr>
          <a:xfrm>
            <a:off x="9646920" y="3063240"/>
            <a:ext cx="274320" cy="0"/>
          </a:xfrm>
          <a:prstGeom prst="line">
            <a:avLst/>
          </a:prstGeom>
          <a:noFill/>
          <a:ln w="25400">
            <a:solidFill>
              <a:srgbClr val="0F55C8"/>
            </a:solidFill>
            <a:prstDash val="solid"/>
            <a:tailEnd type="triangle"/>
          </a:ln>
        </p:spPr>
      </p:sp>
      <p:sp>
        <p:nvSpPr>
          <p:cNvPr id="38" name="Shape 36"/>
          <p:cNvSpPr/>
          <p:nvPr/>
        </p:nvSpPr>
        <p:spPr>
          <a:xfrm>
            <a:off x="9921240" y="2697480"/>
            <a:ext cx="1600200" cy="731520"/>
          </a:xfrm>
          <a:prstGeom prst="roundRect">
            <a:avLst>
              <a:gd name="adj" fmla="val 15000"/>
            </a:avLst>
          </a:prstGeom>
          <a:solidFill>
            <a:srgbClr val="0A2A5E"/>
          </a:solidFill>
          <a:ln w="12700">
            <a:solidFill>
              <a:srgbClr val="0A2A5E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9921240" y="2697480"/>
            <a:ext cx="1600200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service, model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 and data</a:t>
            </a:r>
            <a:endParaRPr lang="en-US" sz="1400" dirty="0"/>
          </a:p>
        </p:txBody>
      </p:sp>
      <p:sp>
        <p:nvSpPr>
          <p:cNvPr id="40" name="Shape 38"/>
          <p:cNvSpPr/>
          <p:nvPr/>
        </p:nvSpPr>
        <p:spPr>
          <a:xfrm>
            <a:off x="10721340" y="2286000"/>
            <a:ext cx="0" cy="201168"/>
          </a:xfrm>
          <a:prstGeom prst="line">
            <a:avLst/>
          </a:prstGeom>
          <a:noFill/>
          <a:ln w="25400">
            <a:solidFill>
              <a:srgbClr val="0F55C8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 flipH="1">
            <a:off x="1348740" y="2487168"/>
            <a:ext cx="9372600" cy="0"/>
          </a:xfrm>
          <a:prstGeom prst="line">
            <a:avLst/>
          </a:prstGeom>
          <a:noFill/>
          <a:ln w="25400">
            <a:solidFill>
              <a:srgbClr val="0F55C8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1348740" y="2487168"/>
            <a:ext cx="0" cy="210312"/>
          </a:xfrm>
          <a:prstGeom prst="line">
            <a:avLst/>
          </a:prstGeom>
          <a:noFill/>
          <a:ln w="25400">
            <a:solidFill>
              <a:srgbClr val="0F55C8"/>
            </a:solidFill>
            <a:prstDash val="solid"/>
            <a:tailEnd type="triangle"/>
          </a:ln>
        </p:spPr>
      </p:sp>
      <p:sp>
        <p:nvSpPr>
          <p:cNvPr id="43" name="Shape 41"/>
          <p:cNvSpPr/>
          <p:nvPr/>
        </p:nvSpPr>
        <p:spPr>
          <a:xfrm>
            <a:off x="548640" y="3886200"/>
            <a:ext cx="2697480" cy="2194560"/>
          </a:xfrm>
          <a:prstGeom prst="roundRect">
            <a:avLst>
              <a:gd name="adj" fmla="val 5833"/>
            </a:avLst>
          </a:prstGeom>
          <a:solidFill>
            <a:srgbClr val="FFFFFF"/>
          </a:solidFill>
          <a:ln w="12700">
            <a:solidFill>
              <a:srgbClr val="D5E1F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44" name="Text 42"/>
          <p:cNvSpPr txBox="1"/>
          <p:nvPr/>
        </p:nvSpPr>
        <p:spPr>
          <a:xfrm>
            <a:off x="694944" y="4003243"/>
            <a:ext cx="24048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A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Routes  ·  routes/</a:t>
            </a:r>
            <a:endParaRPr lang="en-US" sz="1500" dirty="0"/>
          </a:p>
        </p:txBody>
      </p:sp>
      <p:sp>
        <p:nvSpPr>
          <p:cNvPr id="45" name="Text 43"/>
          <p:cNvSpPr txBox="1"/>
          <p:nvPr/>
        </p:nvSpPr>
        <p:spPr>
          <a:xfrm>
            <a:off x="694944" y="4369003"/>
            <a:ext cx="2404872" cy="16239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0F5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</a:t>
            </a:r>
            <a:endParaRPr lang="en-US" sz="14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Maps a URL and method to a controller and attaches protect or adminOnly.</a:t>
            </a:r>
            <a:endParaRPr lang="en-US" sz="14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C42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not</a:t>
            </a:r>
            <a:endParaRPr lang="en-US" sz="14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 any logic.</a:t>
            </a:r>
            <a:endParaRPr lang="en-US" sz="1400" dirty="0"/>
          </a:p>
        </p:txBody>
      </p:sp>
      <p:sp>
        <p:nvSpPr>
          <p:cNvPr id="46" name="Shape 44"/>
          <p:cNvSpPr/>
          <p:nvPr/>
        </p:nvSpPr>
        <p:spPr>
          <a:xfrm>
            <a:off x="3337560" y="3886200"/>
            <a:ext cx="2697480" cy="2194560"/>
          </a:xfrm>
          <a:prstGeom prst="roundRect">
            <a:avLst>
              <a:gd name="adj" fmla="val 5833"/>
            </a:avLst>
          </a:prstGeom>
          <a:solidFill>
            <a:srgbClr val="FFFFFF"/>
          </a:solidFill>
          <a:ln w="12700">
            <a:solidFill>
              <a:srgbClr val="D5E1F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47" name="Text 45"/>
          <p:cNvSpPr txBox="1"/>
          <p:nvPr/>
        </p:nvSpPr>
        <p:spPr>
          <a:xfrm>
            <a:off x="3483864" y="4003243"/>
            <a:ext cx="24048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A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Controllers  ·  controllers/</a:t>
            </a:r>
            <a:endParaRPr lang="en-US" sz="1500" dirty="0"/>
          </a:p>
        </p:txBody>
      </p:sp>
      <p:sp>
        <p:nvSpPr>
          <p:cNvPr id="48" name="Text 46"/>
          <p:cNvSpPr txBox="1"/>
          <p:nvPr/>
        </p:nvSpPr>
        <p:spPr>
          <a:xfrm>
            <a:off x="3483864" y="4369003"/>
            <a:ext cx="2404872" cy="16239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0F5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</a:t>
            </a:r>
            <a:endParaRPr lang="en-US" sz="14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Checks input, calls services and models, shapes { success, data }.</a:t>
            </a:r>
            <a:endParaRPr lang="en-US" sz="14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C42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not</a:t>
            </a:r>
            <a:endParaRPr lang="en-US" sz="14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long calculations or call other services directly.</a:t>
            </a:r>
            <a:endParaRPr lang="en-US" sz="1400" dirty="0"/>
          </a:p>
        </p:txBody>
      </p:sp>
      <p:sp>
        <p:nvSpPr>
          <p:cNvPr id="49" name="Shape 47"/>
          <p:cNvSpPr/>
          <p:nvPr/>
        </p:nvSpPr>
        <p:spPr>
          <a:xfrm>
            <a:off x="6126480" y="3886200"/>
            <a:ext cx="2697480" cy="2194560"/>
          </a:xfrm>
          <a:prstGeom prst="roundRect">
            <a:avLst>
              <a:gd name="adj" fmla="val 5833"/>
            </a:avLst>
          </a:prstGeom>
          <a:solidFill>
            <a:srgbClr val="FFFFFF"/>
          </a:solidFill>
          <a:ln w="12700">
            <a:solidFill>
              <a:srgbClr val="D5E1F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0" name="Text 48"/>
          <p:cNvSpPr txBox="1"/>
          <p:nvPr/>
        </p:nvSpPr>
        <p:spPr>
          <a:xfrm>
            <a:off x="6272784" y="4003243"/>
            <a:ext cx="24048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A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Services  ·  services/</a:t>
            </a:r>
            <a:endParaRPr lang="en-US" sz="1500" dirty="0"/>
          </a:p>
        </p:txBody>
      </p:sp>
      <p:sp>
        <p:nvSpPr>
          <p:cNvPr id="51" name="Text 49"/>
          <p:cNvSpPr txBox="1"/>
          <p:nvPr/>
        </p:nvSpPr>
        <p:spPr>
          <a:xfrm>
            <a:off x="6272784" y="4369003"/>
            <a:ext cx="2404872" cy="16239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0F5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</a:t>
            </a:r>
            <a:endParaRPr lang="en-US" sz="14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logic: pricing, hotel profiles, map calls, photo lookup.</a:t>
            </a:r>
            <a:endParaRPr lang="en-US" sz="14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C42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not</a:t>
            </a:r>
            <a:endParaRPr lang="en-US" sz="14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 about req or res.</a:t>
            </a:r>
            <a:endParaRPr lang="en-US" sz="1400" dirty="0"/>
          </a:p>
        </p:txBody>
      </p:sp>
      <p:sp>
        <p:nvSpPr>
          <p:cNvPr id="52" name="Shape 50"/>
          <p:cNvSpPr/>
          <p:nvPr/>
        </p:nvSpPr>
        <p:spPr>
          <a:xfrm>
            <a:off x="8915400" y="3886200"/>
            <a:ext cx="2697480" cy="2194560"/>
          </a:xfrm>
          <a:prstGeom prst="roundRect">
            <a:avLst>
              <a:gd name="adj" fmla="val 5833"/>
            </a:avLst>
          </a:prstGeom>
          <a:solidFill>
            <a:srgbClr val="FFFFFF"/>
          </a:solidFill>
          <a:ln w="12700">
            <a:solidFill>
              <a:srgbClr val="D5E1F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3" name="Text 51"/>
          <p:cNvSpPr txBox="1"/>
          <p:nvPr/>
        </p:nvSpPr>
        <p:spPr>
          <a:xfrm>
            <a:off x="9061704" y="4003243"/>
            <a:ext cx="24048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A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 ·  models/</a:t>
            </a:r>
            <a:endParaRPr lang="en-US" sz="1500" dirty="0"/>
          </a:p>
        </p:txBody>
      </p:sp>
      <p:sp>
        <p:nvSpPr>
          <p:cNvPr id="54" name="Text 52"/>
          <p:cNvSpPr txBox="1"/>
          <p:nvPr/>
        </p:nvSpPr>
        <p:spPr>
          <a:xfrm>
            <a:off x="9061704" y="4369003"/>
            <a:ext cx="2404872" cy="16239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0F5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</a:t>
            </a:r>
            <a:endParaRPr lang="en-US" sz="14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Schema, validation and indexes with Mongoose.</a:t>
            </a:r>
            <a:endParaRPr lang="en-US" sz="14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C42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not</a:t>
            </a:r>
            <a:endParaRPr lang="en-US" sz="14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 business rules.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48640" y="292608"/>
            <a:ext cx="11064240" cy="6858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A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Inside the React website</a:t>
            </a:r>
            <a:endParaRPr lang="en-US" sz="3000" dirty="0"/>
          </a:p>
        </p:txBody>
      </p:sp>
      <p:sp>
        <p:nvSpPr>
          <p:cNvPr id="3" name="subtitle"/>
          <p:cNvSpPr txBox="1"/>
          <p:nvPr/>
        </p:nvSpPr>
        <p:spPr>
          <a:xfrm>
            <a:off x="548640" y="932688"/>
            <a:ext cx="11064240" cy="4114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Lazy pages, small shared state, and a trip that lives in the browser until it is booked</a:t>
            </a:r>
            <a:endParaRPr lang="en-US" sz="1600" dirty="0"/>
          </a:p>
        </p:txBody>
      </p:sp>
      <p:sp>
        <p:nvSpPr>
          <p:cNvPr id="4" name="footer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VOYARA  ·  System design</a:t>
            </a:r>
            <a:endParaRPr lang="en-US" sz="1000" dirty="0"/>
          </a:p>
        </p:txBody>
      </p:sp>
      <p:sp>
        <p:nvSpPr>
          <p:cNvPr id="5" name="page"/>
          <p:cNvSpPr txBox="1"/>
          <p:nvPr/>
        </p:nvSpPr>
        <p:spPr>
          <a:xfrm>
            <a:off x="10908792" y="6446520"/>
            <a:ext cx="73152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554480"/>
            <a:ext cx="3611880" cy="352044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5E1F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749808" y="1715414"/>
            <a:ext cx="32095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A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Pages and routing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749808" y="2190902"/>
            <a:ext cx="3209544" cy="27633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lazy-loaded pages with React Router 7</a:t>
            </a:r>
            <a:endParaRPr lang="en-US" sz="1400" dirty="0"/>
          </a:p>
          <a:p>
            <a:pPr algn="l" marL="177800" indent="-1778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RequireLogin guards the booking pages and keeps the trip while you log in</a:t>
            </a:r>
            <a:endParaRPr lang="en-US" sz="1400" dirty="0"/>
          </a:p>
          <a:p>
            <a:pPr algn="l" marL="177800" indent="-1778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ErrorBoundary wraps every page</a:t>
            </a:r>
            <a:endParaRPr lang="en-US" sz="1400" dirty="0"/>
          </a:p>
          <a:p>
            <a:pPr algn="l" marL="177800" indent="-1778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admin page checks the role, and the server checks it again</a:t>
            </a:r>
            <a:endParaRPr lang="en-US" sz="1400" dirty="0"/>
          </a:p>
          <a:p>
            <a:pPr algn="l" marL="177800" indent="-1778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services/api.js: one shared Axios instance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297680" y="1554480"/>
            <a:ext cx="3611880" cy="3520440"/>
          </a:xfrm>
          <a:prstGeom prst="roundRect">
            <a:avLst>
              <a:gd name="adj" fmla="val 3636"/>
            </a:avLst>
          </a:prstGeom>
          <a:solidFill>
            <a:srgbClr val="EAF2FF"/>
          </a:solidFill>
          <a:ln w="12700">
            <a:solidFill>
              <a:srgbClr val="BBD3F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4498848" y="1715414"/>
            <a:ext cx="32095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A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4498848" y="2190902"/>
            <a:ext cx="3209544" cy="27633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token: AuthContext, saved in localStorage</a:t>
            </a:r>
            <a:endParaRPr lang="en-US" sz="1400" dirty="0"/>
          </a:p>
          <a:p>
            <a:pPr algn="l" marL="177800" indent="-1778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Trip being built: router state (utils/trip.js), nothing saved on the server</a:t>
            </a:r>
            <a:endParaRPr lang="en-US" sz="1400" dirty="0"/>
          </a:p>
          <a:p>
            <a:pPr algn="l" marL="177800" indent="-1778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Multi-city stops: trip cart in sessionStorage for 3 hours</a:t>
            </a:r>
            <a:endParaRPr lang="en-US" sz="1400" dirty="0"/>
          </a:p>
          <a:p>
            <a:pPr algn="l" marL="177800" indent="-1778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price: useTripQuote calls POST /addons/quote</a:t>
            </a:r>
            <a:endParaRPr lang="en-US" sz="1400" dirty="0"/>
          </a:p>
          <a:p>
            <a:pPr algn="l" marL="177800" indent="-1778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Theme and language: contexts saved on the device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046720" y="1554480"/>
            <a:ext cx="3611880" cy="352044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5E1F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8247888" y="1715414"/>
            <a:ext cx="32095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A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 and language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8247888" y="2190902"/>
            <a:ext cx="3209544" cy="27633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 CSS with design tokens, loaded in a fixed order</a:t>
            </a:r>
            <a:endParaRPr lang="en-US" sz="1400" dirty="0"/>
          </a:p>
          <a:p>
            <a:pPr algn="l" marL="177800" indent="-1778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Dark mode generated from the light CSS, plus hand fixes</a:t>
            </a:r>
            <a:endParaRPr lang="en-US" sz="1400" dirty="0"/>
          </a:p>
          <a:p>
            <a:pPr algn="l" marL="177800" indent="-1778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Motion only on opacity and transform, off for reduced motion</a:t>
            </a:r>
            <a:endParaRPr lang="en-US" sz="1400" dirty="0"/>
          </a:p>
          <a:p>
            <a:pPr algn="l" marL="177800" indent="-1778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English, Hindi and Odia: screens, server messages and data</a:t>
            </a:r>
            <a:endParaRPr lang="en-US" sz="1400" dirty="0"/>
          </a:p>
          <a:p>
            <a:pPr algn="l" marL="177800" indent="-1778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Checked from 320 px phones to wide desktops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48640" y="5303520"/>
            <a:ext cx="3611880" cy="960120"/>
          </a:xfrm>
          <a:prstGeom prst="roundRect">
            <a:avLst>
              <a:gd name="adj" fmla="val 11429"/>
            </a:avLst>
          </a:prstGeom>
          <a:solidFill>
            <a:srgbClr val="0A2A5E"/>
          </a:solidFill>
          <a:ln w="12700">
            <a:solidFill>
              <a:srgbClr val="0A2A5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777240" y="5358384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D2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3000" dirty="0"/>
          </a:p>
        </p:txBody>
      </p:sp>
      <p:sp>
        <p:nvSpPr>
          <p:cNvPr id="17" name="Text 15"/>
          <p:cNvSpPr txBox="1"/>
          <p:nvPr/>
        </p:nvSpPr>
        <p:spPr>
          <a:xfrm>
            <a:off x="777240" y="5852160"/>
            <a:ext cx="3154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lazy-loaded pages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297680" y="5303520"/>
            <a:ext cx="3611880" cy="960120"/>
          </a:xfrm>
          <a:prstGeom prst="roundRect">
            <a:avLst>
              <a:gd name="adj" fmla="val 11429"/>
            </a:avLst>
          </a:prstGeom>
          <a:solidFill>
            <a:srgbClr val="0A2A5E"/>
          </a:solidFill>
          <a:ln w="12700">
            <a:solidFill>
              <a:srgbClr val="0A2A5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 txBox="1"/>
          <p:nvPr/>
        </p:nvSpPr>
        <p:spPr>
          <a:xfrm>
            <a:off x="4526280" y="5358384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D2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3000" dirty="0"/>
          </a:p>
        </p:txBody>
      </p:sp>
      <p:sp>
        <p:nvSpPr>
          <p:cNvPr id="20" name="Text 18"/>
          <p:cNvSpPr txBox="1"/>
          <p:nvPr/>
        </p:nvSpPr>
        <p:spPr>
          <a:xfrm>
            <a:off x="4526280" y="5852160"/>
            <a:ext cx="3154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languages: English, Hindi, Odia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8046720" y="5303520"/>
            <a:ext cx="3611880" cy="960120"/>
          </a:xfrm>
          <a:prstGeom prst="roundRect">
            <a:avLst>
              <a:gd name="adj" fmla="val 11429"/>
            </a:avLst>
          </a:prstGeom>
          <a:solidFill>
            <a:srgbClr val="0A2A5E"/>
          </a:solidFill>
          <a:ln w="12700">
            <a:solidFill>
              <a:srgbClr val="0A2A5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 txBox="1"/>
          <p:nvPr/>
        </p:nvSpPr>
        <p:spPr>
          <a:xfrm>
            <a:off x="8275320" y="5358384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D2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320 px +</a:t>
            </a:r>
            <a:endParaRPr lang="en-US" sz="3000" dirty="0"/>
          </a:p>
        </p:txBody>
      </p:sp>
      <p:sp>
        <p:nvSpPr>
          <p:cNvPr id="23" name="Text 21"/>
          <p:cNvSpPr txBox="1"/>
          <p:nvPr/>
        </p:nvSpPr>
        <p:spPr>
          <a:xfrm>
            <a:off x="8275320" y="5852160"/>
            <a:ext cx="3154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 to wide desktop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48640" y="292608"/>
            <a:ext cx="11064240" cy="6858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A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booking journey</a:t>
            </a:r>
            <a:endParaRPr lang="en-US" sz="3000" dirty="0"/>
          </a:p>
        </p:txBody>
      </p:sp>
      <p:sp>
        <p:nvSpPr>
          <p:cNvPr id="3" name="subtitle"/>
          <p:cNvSpPr txBox="1"/>
          <p:nvPr/>
        </p:nvSpPr>
        <p:spPr>
          <a:xfrm>
            <a:off x="548640" y="932688"/>
            <a:ext cx="11064240" cy="4114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Home search and the places you pick lead into ten steps, from Stays to a confirmed booking</a:t>
            </a:r>
            <a:endParaRPr lang="en-US" sz="1600" dirty="0"/>
          </a:p>
        </p:txBody>
      </p:sp>
      <p:sp>
        <p:nvSpPr>
          <p:cNvPr id="4" name="footer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VOYARA  ·  System design</a:t>
            </a:r>
            <a:endParaRPr lang="en-US" sz="1000" dirty="0"/>
          </a:p>
        </p:txBody>
      </p:sp>
      <p:sp>
        <p:nvSpPr>
          <p:cNvPr id="5" name="page"/>
          <p:cNvSpPr txBox="1"/>
          <p:nvPr/>
        </p:nvSpPr>
        <p:spPr>
          <a:xfrm>
            <a:off x="10908792" y="6446520"/>
            <a:ext cx="73152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02920" y="1645920"/>
            <a:ext cx="2011680" cy="1600200"/>
          </a:xfrm>
          <a:prstGeom prst="roundRect">
            <a:avLst>
              <a:gd name="adj" fmla="val 6857"/>
            </a:avLst>
          </a:prstGeom>
          <a:solidFill>
            <a:srgbClr val="FFFFFF"/>
          </a:solidFill>
          <a:ln w="12700">
            <a:solidFill>
              <a:srgbClr val="D5E1F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21792" y="1764792"/>
            <a:ext cx="384048" cy="384048"/>
          </a:xfrm>
          <a:prstGeom prst="ellipse">
            <a:avLst/>
          </a:prstGeom>
          <a:solidFill>
            <a:srgbClr val="0F55C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21792" y="17647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069848" y="173736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A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Stays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621792" y="2267712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A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/stays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621792" y="2560320"/>
            <a:ext cx="1783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Hotels near the places you picked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2514600" y="2446020"/>
            <a:ext cx="274320" cy="0"/>
          </a:xfrm>
          <a:prstGeom prst="line">
            <a:avLst/>
          </a:prstGeom>
          <a:noFill/>
          <a:ln w="25400">
            <a:solidFill>
              <a:srgbClr val="0F55C8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2788920" y="1645920"/>
            <a:ext cx="2011680" cy="1600200"/>
          </a:xfrm>
          <a:prstGeom prst="roundRect">
            <a:avLst>
              <a:gd name="adj" fmla="val 6857"/>
            </a:avLst>
          </a:prstGeom>
          <a:solidFill>
            <a:srgbClr val="FFFFFF"/>
          </a:solidFill>
          <a:ln w="12700">
            <a:solidFill>
              <a:srgbClr val="D5E1F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907792" y="1764792"/>
            <a:ext cx="384048" cy="384048"/>
          </a:xfrm>
          <a:prstGeom prst="ellipse">
            <a:avLst/>
          </a:prstGeom>
          <a:solidFill>
            <a:srgbClr val="0F55C8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2907792" y="17647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3355848" y="173736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A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your stay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2907792" y="2267712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A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/dates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2907792" y="2560320"/>
            <a:ext cx="1783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Room, dates and guests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800600" y="2446020"/>
            <a:ext cx="274320" cy="0"/>
          </a:xfrm>
          <a:prstGeom prst="line">
            <a:avLst/>
          </a:prstGeom>
          <a:noFill/>
          <a:ln w="25400">
            <a:solidFill>
              <a:srgbClr val="0F55C8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5074920" y="1645920"/>
            <a:ext cx="2011680" cy="1600200"/>
          </a:xfrm>
          <a:prstGeom prst="roundRect">
            <a:avLst>
              <a:gd name="adj" fmla="val 6857"/>
            </a:avLst>
          </a:prstGeom>
          <a:solidFill>
            <a:srgbClr val="FFFFFF"/>
          </a:solidFill>
          <a:ln w="12700">
            <a:solidFill>
              <a:srgbClr val="D5E1F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193792" y="1764792"/>
            <a:ext cx="384048" cy="384048"/>
          </a:xfrm>
          <a:prstGeom prst="ellipse">
            <a:avLst/>
          </a:prstGeom>
          <a:solidFill>
            <a:srgbClr val="0F55C8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5193792" y="17647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5641848" y="173736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A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Availability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5193792" y="2267712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A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/availability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5193792" y="2560320"/>
            <a:ext cx="1783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Rooms left, checked again at booking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7086600" y="2446020"/>
            <a:ext cx="274320" cy="0"/>
          </a:xfrm>
          <a:prstGeom prst="line">
            <a:avLst/>
          </a:prstGeom>
          <a:noFill/>
          <a:ln w="25400">
            <a:solidFill>
              <a:srgbClr val="0F55C8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7360920" y="1645920"/>
            <a:ext cx="2011680" cy="1600200"/>
          </a:xfrm>
          <a:prstGeom prst="roundRect">
            <a:avLst>
              <a:gd name="adj" fmla="val 6857"/>
            </a:avLst>
          </a:prstGeom>
          <a:solidFill>
            <a:srgbClr val="FFFFFF"/>
          </a:solidFill>
          <a:ln w="12700">
            <a:solidFill>
              <a:srgbClr val="D5E1F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7479792" y="1764792"/>
            <a:ext cx="384048" cy="384048"/>
          </a:xfrm>
          <a:prstGeom prst="ellipse">
            <a:avLst/>
          </a:prstGeom>
          <a:solidFill>
            <a:srgbClr val="0F55C8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7479792" y="17647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30" name="Text 28"/>
          <p:cNvSpPr txBox="1"/>
          <p:nvPr/>
        </p:nvSpPr>
        <p:spPr>
          <a:xfrm>
            <a:off x="7927848" y="173736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A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Meals</a:t>
            </a:r>
            <a:endParaRPr lang="en-US" sz="1400" dirty="0"/>
          </a:p>
        </p:txBody>
      </p:sp>
      <p:sp>
        <p:nvSpPr>
          <p:cNvPr id="31" name="Text 29"/>
          <p:cNvSpPr txBox="1"/>
          <p:nvPr/>
        </p:nvSpPr>
        <p:spPr>
          <a:xfrm>
            <a:off x="7479792" y="2267712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A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/meals</a:t>
            </a:r>
            <a:endParaRPr lang="en-US" sz="1100" dirty="0"/>
          </a:p>
        </p:txBody>
      </p:sp>
      <p:sp>
        <p:nvSpPr>
          <p:cNvPr id="32" name="Text 30"/>
          <p:cNvSpPr txBox="1"/>
          <p:nvPr/>
        </p:nvSpPr>
        <p:spPr>
          <a:xfrm>
            <a:off x="7479792" y="2560320"/>
            <a:ext cx="1783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Meal plans and nearby restaurants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9372600" y="2446020"/>
            <a:ext cx="274320" cy="0"/>
          </a:xfrm>
          <a:prstGeom prst="line">
            <a:avLst/>
          </a:prstGeom>
          <a:noFill/>
          <a:ln w="25400">
            <a:solidFill>
              <a:srgbClr val="0F55C8"/>
            </a:solidFill>
            <a:prstDash val="solid"/>
            <a:tailEnd type="triangle"/>
          </a:ln>
        </p:spPr>
      </p:sp>
      <p:sp>
        <p:nvSpPr>
          <p:cNvPr id="34" name="Shape 32"/>
          <p:cNvSpPr/>
          <p:nvPr/>
        </p:nvSpPr>
        <p:spPr>
          <a:xfrm>
            <a:off x="9646920" y="1645920"/>
            <a:ext cx="2011680" cy="1600200"/>
          </a:xfrm>
          <a:prstGeom prst="roundRect">
            <a:avLst>
              <a:gd name="adj" fmla="val 6857"/>
            </a:avLst>
          </a:prstGeom>
          <a:solidFill>
            <a:srgbClr val="FFFFFF"/>
          </a:solidFill>
          <a:ln w="12700">
            <a:solidFill>
              <a:srgbClr val="D5E1F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9765792" y="1764792"/>
            <a:ext cx="384048" cy="384048"/>
          </a:xfrm>
          <a:prstGeom prst="ellipse">
            <a:avLst/>
          </a:prstGeom>
          <a:solidFill>
            <a:srgbClr val="0F55C8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9765792" y="17647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37" name="Text 35"/>
          <p:cNvSpPr txBox="1"/>
          <p:nvPr/>
        </p:nvSpPr>
        <p:spPr>
          <a:xfrm>
            <a:off x="10213848" y="173736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A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Travel and activities</a:t>
            </a:r>
            <a:endParaRPr lang="en-US" sz="1400" dirty="0"/>
          </a:p>
        </p:txBody>
      </p:sp>
      <p:sp>
        <p:nvSpPr>
          <p:cNvPr id="38" name="Text 36"/>
          <p:cNvSpPr txBox="1"/>
          <p:nvPr/>
        </p:nvSpPr>
        <p:spPr>
          <a:xfrm>
            <a:off x="9765792" y="2267712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A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/add-ons</a:t>
            </a:r>
            <a:endParaRPr lang="en-US" sz="1100" dirty="0"/>
          </a:p>
        </p:txBody>
      </p:sp>
      <p:sp>
        <p:nvSpPr>
          <p:cNvPr id="39" name="Text 37"/>
          <p:cNvSpPr txBox="1"/>
          <p:nvPr/>
        </p:nvSpPr>
        <p:spPr>
          <a:xfrm>
            <a:off x="9765792" y="2560320"/>
            <a:ext cx="1783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 and experiences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502920" y="3703320"/>
            <a:ext cx="2011680" cy="1600200"/>
          </a:xfrm>
          <a:prstGeom prst="roundRect">
            <a:avLst>
              <a:gd name="adj" fmla="val 6857"/>
            </a:avLst>
          </a:prstGeom>
          <a:solidFill>
            <a:srgbClr val="FFFFFF"/>
          </a:solidFill>
          <a:ln w="12700">
            <a:solidFill>
              <a:srgbClr val="D5E1F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621792" y="3822192"/>
            <a:ext cx="384048" cy="384048"/>
          </a:xfrm>
          <a:prstGeom prst="ellipse">
            <a:avLst/>
          </a:prstGeom>
          <a:solidFill>
            <a:srgbClr val="0F55C8"/>
          </a:solidFill>
          <a:ln/>
        </p:spPr>
      </p:sp>
      <p:sp>
        <p:nvSpPr>
          <p:cNvPr id="42" name="Text 40"/>
          <p:cNvSpPr txBox="1"/>
          <p:nvPr/>
        </p:nvSpPr>
        <p:spPr>
          <a:xfrm>
            <a:off x="621792" y="38221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43" name="Text 41"/>
          <p:cNvSpPr txBox="1"/>
          <p:nvPr/>
        </p:nvSpPr>
        <p:spPr>
          <a:xfrm>
            <a:off x="1069848" y="379476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A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Trip preview</a:t>
            </a:r>
            <a:endParaRPr lang="en-US" sz="1400" dirty="0"/>
          </a:p>
        </p:txBody>
      </p:sp>
      <p:sp>
        <p:nvSpPr>
          <p:cNvPr id="44" name="Text 42"/>
          <p:cNvSpPr txBox="1"/>
          <p:nvPr/>
        </p:nvSpPr>
        <p:spPr>
          <a:xfrm>
            <a:off x="621792" y="4325112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A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/trip-builder</a:t>
            </a:r>
            <a:endParaRPr lang="en-US" sz="1100" dirty="0"/>
          </a:p>
        </p:txBody>
      </p:sp>
      <p:sp>
        <p:nvSpPr>
          <p:cNvPr id="45" name="Text 43"/>
          <p:cNvSpPr txBox="1"/>
          <p:nvPr/>
        </p:nvSpPr>
        <p:spPr>
          <a:xfrm>
            <a:off x="621792" y="4617720"/>
            <a:ext cx="1783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price from the server</a:t>
            </a:r>
            <a:endParaRPr lang="en-US" sz="1300" dirty="0"/>
          </a:p>
        </p:txBody>
      </p:sp>
      <p:sp>
        <p:nvSpPr>
          <p:cNvPr id="46" name="Shape 44"/>
          <p:cNvSpPr/>
          <p:nvPr/>
        </p:nvSpPr>
        <p:spPr>
          <a:xfrm>
            <a:off x="2514600" y="4503420"/>
            <a:ext cx="274320" cy="0"/>
          </a:xfrm>
          <a:prstGeom prst="line">
            <a:avLst/>
          </a:prstGeom>
          <a:noFill/>
          <a:ln w="25400">
            <a:solidFill>
              <a:srgbClr val="0F55C8"/>
            </a:solidFill>
            <a:prstDash val="solid"/>
            <a:tailEnd type="triangle"/>
          </a:ln>
        </p:spPr>
      </p:sp>
      <p:sp>
        <p:nvSpPr>
          <p:cNvPr id="47" name="Shape 45"/>
          <p:cNvSpPr/>
          <p:nvPr/>
        </p:nvSpPr>
        <p:spPr>
          <a:xfrm>
            <a:off x="2788920" y="3703320"/>
            <a:ext cx="2011680" cy="1600200"/>
          </a:xfrm>
          <a:prstGeom prst="roundRect">
            <a:avLst>
              <a:gd name="adj" fmla="val 6857"/>
            </a:avLst>
          </a:prstGeom>
          <a:solidFill>
            <a:srgbClr val="FFFFFF"/>
          </a:solidFill>
          <a:ln w="12700">
            <a:solidFill>
              <a:srgbClr val="F7C9A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48" name="Shape 46"/>
          <p:cNvSpPr/>
          <p:nvPr/>
        </p:nvSpPr>
        <p:spPr>
          <a:xfrm>
            <a:off x="2907792" y="3822192"/>
            <a:ext cx="384048" cy="384048"/>
          </a:xfrm>
          <a:prstGeom prst="ellipse">
            <a:avLst/>
          </a:prstGeom>
          <a:solidFill>
            <a:srgbClr val="F26A1B"/>
          </a:solidFill>
          <a:ln/>
        </p:spPr>
      </p:sp>
      <p:sp>
        <p:nvSpPr>
          <p:cNvPr id="49" name="Text 47"/>
          <p:cNvSpPr txBox="1"/>
          <p:nvPr/>
        </p:nvSpPr>
        <p:spPr>
          <a:xfrm>
            <a:off x="2907792" y="38221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400" dirty="0"/>
          </a:p>
        </p:txBody>
      </p:sp>
      <p:sp>
        <p:nvSpPr>
          <p:cNvPr id="50" name="Text 48"/>
          <p:cNvSpPr txBox="1"/>
          <p:nvPr/>
        </p:nvSpPr>
        <p:spPr>
          <a:xfrm>
            <a:off x="3355848" y="379476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A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Traveler details</a:t>
            </a:r>
            <a:endParaRPr lang="en-US" sz="1400" dirty="0"/>
          </a:p>
        </p:txBody>
      </p:sp>
      <p:sp>
        <p:nvSpPr>
          <p:cNvPr id="51" name="Text 49"/>
          <p:cNvSpPr txBox="1"/>
          <p:nvPr/>
        </p:nvSpPr>
        <p:spPr>
          <a:xfrm>
            <a:off x="2907792" y="4325112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A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/booking-details</a:t>
            </a:r>
            <a:endParaRPr lang="en-US" sz="1100" dirty="0"/>
          </a:p>
        </p:txBody>
      </p:sp>
      <p:sp>
        <p:nvSpPr>
          <p:cNvPr id="52" name="Text 50"/>
          <p:cNvSpPr txBox="1"/>
          <p:nvPr/>
        </p:nvSpPr>
        <p:spPr>
          <a:xfrm>
            <a:off x="2907792" y="4617720"/>
            <a:ext cx="1783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Name, email and phone</a:t>
            </a:r>
            <a:endParaRPr lang="en-US" sz="1300" dirty="0"/>
          </a:p>
        </p:txBody>
      </p:sp>
      <p:sp>
        <p:nvSpPr>
          <p:cNvPr id="53" name="Shape 51"/>
          <p:cNvSpPr/>
          <p:nvPr/>
        </p:nvSpPr>
        <p:spPr>
          <a:xfrm>
            <a:off x="4800600" y="4503420"/>
            <a:ext cx="274320" cy="0"/>
          </a:xfrm>
          <a:prstGeom prst="line">
            <a:avLst/>
          </a:prstGeom>
          <a:noFill/>
          <a:ln w="25400">
            <a:solidFill>
              <a:srgbClr val="0F55C8"/>
            </a:solidFill>
            <a:prstDash val="solid"/>
            <a:tailEnd type="triangle"/>
          </a:ln>
        </p:spPr>
      </p:sp>
      <p:sp>
        <p:nvSpPr>
          <p:cNvPr id="54" name="Shape 52"/>
          <p:cNvSpPr/>
          <p:nvPr/>
        </p:nvSpPr>
        <p:spPr>
          <a:xfrm>
            <a:off x="5074920" y="3703320"/>
            <a:ext cx="2011680" cy="1600200"/>
          </a:xfrm>
          <a:prstGeom prst="roundRect">
            <a:avLst>
              <a:gd name="adj" fmla="val 6857"/>
            </a:avLst>
          </a:prstGeom>
          <a:solidFill>
            <a:srgbClr val="FFFFFF"/>
          </a:solidFill>
          <a:ln w="12700">
            <a:solidFill>
              <a:srgbClr val="F7C9A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5" name="Shape 53"/>
          <p:cNvSpPr/>
          <p:nvPr/>
        </p:nvSpPr>
        <p:spPr>
          <a:xfrm>
            <a:off x="5193792" y="3822192"/>
            <a:ext cx="384048" cy="384048"/>
          </a:xfrm>
          <a:prstGeom prst="ellipse">
            <a:avLst/>
          </a:prstGeom>
          <a:solidFill>
            <a:srgbClr val="F26A1B"/>
          </a:solidFill>
          <a:ln/>
        </p:spPr>
      </p:sp>
      <p:sp>
        <p:nvSpPr>
          <p:cNvPr id="56" name="Text 54"/>
          <p:cNvSpPr txBox="1"/>
          <p:nvPr/>
        </p:nvSpPr>
        <p:spPr>
          <a:xfrm>
            <a:off x="5193792" y="38221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400" dirty="0"/>
          </a:p>
        </p:txBody>
      </p:sp>
      <p:sp>
        <p:nvSpPr>
          <p:cNvPr id="57" name="Text 55"/>
          <p:cNvSpPr txBox="1"/>
          <p:nvPr/>
        </p:nvSpPr>
        <p:spPr>
          <a:xfrm>
            <a:off x="5641848" y="379476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A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</a:t>
            </a:r>
            <a:endParaRPr lang="en-US" sz="1400" dirty="0"/>
          </a:p>
        </p:txBody>
      </p:sp>
      <p:sp>
        <p:nvSpPr>
          <p:cNvPr id="58" name="Text 56"/>
          <p:cNvSpPr txBox="1"/>
          <p:nvPr/>
        </p:nvSpPr>
        <p:spPr>
          <a:xfrm>
            <a:off x="5193792" y="4325112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A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/trip-review</a:t>
            </a:r>
            <a:endParaRPr lang="en-US" sz="1100" dirty="0"/>
          </a:p>
        </p:txBody>
      </p:sp>
      <p:sp>
        <p:nvSpPr>
          <p:cNvPr id="59" name="Text 57"/>
          <p:cNvSpPr txBox="1"/>
          <p:nvPr/>
        </p:nvSpPr>
        <p:spPr>
          <a:xfrm>
            <a:off x="5193792" y="4617720"/>
            <a:ext cx="1783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 is created as pending</a:t>
            </a:r>
            <a:endParaRPr lang="en-US" sz="1300" dirty="0"/>
          </a:p>
        </p:txBody>
      </p:sp>
      <p:sp>
        <p:nvSpPr>
          <p:cNvPr id="60" name="Shape 58"/>
          <p:cNvSpPr/>
          <p:nvPr/>
        </p:nvSpPr>
        <p:spPr>
          <a:xfrm>
            <a:off x="7086600" y="4503420"/>
            <a:ext cx="274320" cy="0"/>
          </a:xfrm>
          <a:prstGeom prst="line">
            <a:avLst/>
          </a:prstGeom>
          <a:noFill/>
          <a:ln w="25400">
            <a:solidFill>
              <a:srgbClr val="0F55C8"/>
            </a:solidFill>
            <a:prstDash val="solid"/>
            <a:tailEnd type="triangle"/>
          </a:ln>
        </p:spPr>
      </p:sp>
      <p:sp>
        <p:nvSpPr>
          <p:cNvPr id="61" name="Shape 59"/>
          <p:cNvSpPr/>
          <p:nvPr/>
        </p:nvSpPr>
        <p:spPr>
          <a:xfrm>
            <a:off x="7360920" y="3703320"/>
            <a:ext cx="2011680" cy="1600200"/>
          </a:xfrm>
          <a:prstGeom prst="roundRect">
            <a:avLst>
              <a:gd name="adj" fmla="val 6857"/>
            </a:avLst>
          </a:prstGeom>
          <a:solidFill>
            <a:srgbClr val="FFFFFF"/>
          </a:solidFill>
          <a:ln w="12700">
            <a:solidFill>
              <a:srgbClr val="F7C9A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62" name="Shape 60"/>
          <p:cNvSpPr/>
          <p:nvPr/>
        </p:nvSpPr>
        <p:spPr>
          <a:xfrm>
            <a:off x="7479792" y="3822192"/>
            <a:ext cx="384048" cy="384048"/>
          </a:xfrm>
          <a:prstGeom prst="ellipse">
            <a:avLst/>
          </a:prstGeom>
          <a:solidFill>
            <a:srgbClr val="F26A1B"/>
          </a:solidFill>
          <a:ln/>
        </p:spPr>
      </p:sp>
      <p:sp>
        <p:nvSpPr>
          <p:cNvPr id="63" name="Text 61"/>
          <p:cNvSpPr txBox="1"/>
          <p:nvPr/>
        </p:nvSpPr>
        <p:spPr>
          <a:xfrm>
            <a:off x="7479792" y="38221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400" dirty="0"/>
          </a:p>
        </p:txBody>
      </p:sp>
      <p:sp>
        <p:nvSpPr>
          <p:cNvPr id="64" name="Text 62"/>
          <p:cNvSpPr txBox="1"/>
          <p:nvPr/>
        </p:nvSpPr>
        <p:spPr>
          <a:xfrm>
            <a:off x="7927848" y="379476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A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</a:t>
            </a:r>
            <a:endParaRPr lang="en-US" sz="1400" dirty="0"/>
          </a:p>
        </p:txBody>
      </p:sp>
      <p:sp>
        <p:nvSpPr>
          <p:cNvPr id="65" name="Text 63"/>
          <p:cNvSpPr txBox="1"/>
          <p:nvPr/>
        </p:nvSpPr>
        <p:spPr>
          <a:xfrm>
            <a:off x="7479792" y="4325112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A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/payment</a:t>
            </a:r>
            <a:endParaRPr lang="en-US" sz="1100" dirty="0"/>
          </a:p>
        </p:txBody>
      </p:sp>
      <p:sp>
        <p:nvSpPr>
          <p:cNvPr id="66" name="Text 64"/>
          <p:cNvSpPr txBox="1"/>
          <p:nvPr/>
        </p:nvSpPr>
        <p:spPr>
          <a:xfrm>
            <a:off x="7479792" y="4617720"/>
            <a:ext cx="1783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Razorpay or demo, then confirmed</a:t>
            </a:r>
            <a:endParaRPr lang="en-US" sz="1300" dirty="0"/>
          </a:p>
        </p:txBody>
      </p:sp>
      <p:sp>
        <p:nvSpPr>
          <p:cNvPr id="67" name="Shape 65"/>
          <p:cNvSpPr/>
          <p:nvPr/>
        </p:nvSpPr>
        <p:spPr>
          <a:xfrm>
            <a:off x="9372600" y="4503420"/>
            <a:ext cx="274320" cy="0"/>
          </a:xfrm>
          <a:prstGeom prst="line">
            <a:avLst/>
          </a:prstGeom>
          <a:noFill/>
          <a:ln w="25400">
            <a:solidFill>
              <a:srgbClr val="0F55C8"/>
            </a:solidFill>
            <a:prstDash val="solid"/>
            <a:tailEnd type="triangle"/>
          </a:ln>
        </p:spPr>
      </p:sp>
      <p:sp>
        <p:nvSpPr>
          <p:cNvPr id="68" name="Shape 66"/>
          <p:cNvSpPr/>
          <p:nvPr/>
        </p:nvSpPr>
        <p:spPr>
          <a:xfrm>
            <a:off x="9646920" y="3703320"/>
            <a:ext cx="2011680" cy="1600200"/>
          </a:xfrm>
          <a:prstGeom prst="roundRect">
            <a:avLst>
              <a:gd name="adj" fmla="val 6857"/>
            </a:avLst>
          </a:prstGeom>
          <a:solidFill>
            <a:srgbClr val="FFFFFF"/>
          </a:solidFill>
          <a:ln w="12700">
            <a:solidFill>
              <a:srgbClr val="D5E1F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69" name="Shape 67"/>
          <p:cNvSpPr/>
          <p:nvPr/>
        </p:nvSpPr>
        <p:spPr>
          <a:xfrm>
            <a:off x="9765792" y="3822192"/>
            <a:ext cx="384048" cy="384048"/>
          </a:xfrm>
          <a:prstGeom prst="ellipse">
            <a:avLst/>
          </a:prstGeom>
          <a:solidFill>
            <a:srgbClr val="2B9348"/>
          </a:solidFill>
          <a:ln/>
        </p:spPr>
      </p:sp>
      <p:sp>
        <p:nvSpPr>
          <p:cNvPr id="70" name="Text 68"/>
          <p:cNvSpPr txBox="1"/>
          <p:nvPr/>
        </p:nvSpPr>
        <p:spPr>
          <a:xfrm>
            <a:off x="9765792" y="38221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400" dirty="0"/>
          </a:p>
        </p:txBody>
      </p:sp>
      <p:sp>
        <p:nvSpPr>
          <p:cNvPr id="71" name="Text 69"/>
          <p:cNvSpPr txBox="1"/>
          <p:nvPr/>
        </p:nvSpPr>
        <p:spPr>
          <a:xfrm>
            <a:off x="10213848" y="379476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A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Confirmation</a:t>
            </a:r>
            <a:endParaRPr lang="en-US" sz="1400" dirty="0"/>
          </a:p>
        </p:txBody>
      </p:sp>
      <p:sp>
        <p:nvSpPr>
          <p:cNvPr id="72" name="Text 70"/>
          <p:cNvSpPr txBox="1"/>
          <p:nvPr/>
        </p:nvSpPr>
        <p:spPr>
          <a:xfrm>
            <a:off x="9765792" y="4325112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A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/trip-confirmation</a:t>
            </a:r>
            <a:endParaRPr lang="en-US" sz="1100" dirty="0"/>
          </a:p>
        </p:txBody>
      </p:sp>
      <p:sp>
        <p:nvSpPr>
          <p:cNvPr id="73" name="Text 71"/>
          <p:cNvSpPr txBox="1"/>
          <p:nvPr/>
        </p:nvSpPr>
        <p:spPr>
          <a:xfrm>
            <a:off x="9765792" y="4617720"/>
            <a:ext cx="1783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 number, then My Trips</a:t>
            </a:r>
            <a:endParaRPr lang="en-US" sz="1300" dirty="0"/>
          </a:p>
        </p:txBody>
      </p:sp>
      <p:sp>
        <p:nvSpPr>
          <p:cNvPr id="74" name="Shape 72"/>
          <p:cNvSpPr/>
          <p:nvPr/>
        </p:nvSpPr>
        <p:spPr>
          <a:xfrm>
            <a:off x="10652760" y="3246120"/>
            <a:ext cx="0" cy="228600"/>
          </a:xfrm>
          <a:prstGeom prst="line">
            <a:avLst/>
          </a:prstGeom>
          <a:noFill/>
          <a:ln w="25400">
            <a:solidFill>
              <a:srgbClr val="0F55C8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 flipH="1">
            <a:off x="1508760" y="3474720"/>
            <a:ext cx="9144000" cy="0"/>
          </a:xfrm>
          <a:prstGeom prst="line">
            <a:avLst/>
          </a:prstGeom>
          <a:noFill/>
          <a:ln w="25400">
            <a:solidFill>
              <a:srgbClr val="0F55C8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1508760" y="3474720"/>
            <a:ext cx="0" cy="228600"/>
          </a:xfrm>
          <a:prstGeom prst="line">
            <a:avLst/>
          </a:prstGeom>
          <a:noFill/>
          <a:ln w="25400">
            <a:solidFill>
              <a:srgbClr val="0F55C8"/>
            </a:solidFill>
            <a:prstDash val="solid"/>
            <a:tailEnd type="triangle"/>
          </a:ln>
        </p:spPr>
      </p:sp>
      <p:sp>
        <p:nvSpPr>
          <p:cNvPr id="77" name="Shape 75"/>
          <p:cNvSpPr/>
          <p:nvPr/>
        </p:nvSpPr>
        <p:spPr>
          <a:xfrm>
            <a:off x="548640" y="5532120"/>
            <a:ext cx="201168" cy="201168"/>
          </a:xfrm>
          <a:prstGeom prst="ellipse">
            <a:avLst/>
          </a:prstGeom>
          <a:solidFill>
            <a:srgbClr val="F26A1B"/>
          </a:solidFill>
          <a:ln/>
        </p:spPr>
      </p:sp>
      <p:sp>
        <p:nvSpPr>
          <p:cNvPr id="78" name="Text 76"/>
          <p:cNvSpPr txBox="1"/>
          <p:nvPr/>
        </p:nvSpPr>
        <p:spPr>
          <a:xfrm>
            <a:off x="841248" y="5458968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required</a:t>
            </a:r>
            <a:endParaRPr lang="en-US" sz="1300" dirty="0"/>
          </a:p>
        </p:txBody>
      </p:sp>
      <p:sp>
        <p:nvSpPr>
          <p:cNvPr id="79" name="Shape 77"/>
          <p:cNvSpPr/>
          <p:nvPr/>
        </p:nvSpPr>
        <p:spPr>
          <a:xfrm>
            <a:off x="548640" y="5852160"/>
            <a:ext cx="11064240" cy="457200"/>
          </a:xfrm>
          <a:prstGeom prst="roundRect">
            <a:avLst>
              <a:gd name="adj" fmla="val 24000"/>
            </a:avLst>
          </a:prstGeom>
          <a:solidFill>
            <a:srgbClr val="EAF2FF"/>
          </a:solidFill>
          <a:ln w="12700">
            <a:solidFill>
              <a:srgbClr val="BBD3F5"/>
            </a:solidFill>
            <a:prstDash val="solid"/>
          </a:ln>
        </p:spPr>
      </p:sp>
      <p:sp>
        <p:nvSpPr>
          <p:cNvPr id="80" name="Text 78"/>
          <p:cNvSpPr txBox="1"/>
          <p:nvPr/>
        </p:nvSpPr>
        <p:spPr>
          <a:xfrm>
            <a:off x="685800" y="585216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0A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trip travels in router state (utils/trip.js). Nothing is stored on the server until the booking is created at the review step.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48640" y="292608"/>
            <a:ext cx="11064240" cy="6858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A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Multi-city trips</a:t>
            </a:r>
            <a:endParaRPr lang="en-US" sz="3000" dirty="0"/>
          </a:p>
        </p:txBody>
      </p:sp>
      <p:sp>
        <p:nvSpPr>
          <p:cNvPr id="3" name="subtitle"/>
          <p:cNvSpPr txBox="1"/>
          <p:nvPr/>
        </p:nvSpPr>
        <p:spPr>
          <a:xfrm>
            <a:off x="548640" y="932688"/>
            <a:ext cx="11064240" cy="4114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Several cities in one trip: one booking per city, linked by a trip ID</a:t>
            </a:r>
            <a:endParaRPr lang="en-US" sz="1600" dirty="0"/>
          </a:p>
        </p:txBody>
      </p:sp>
      <p:sp>
        <p:nvSpPr>
          <p:cNvPr id="4" name="footer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VOYARA  ·  System design</a:t>
            </a:r>
            <a:endParaRPr lang="en-US" sz="1000" dirty="0"/>
          </a:p>
        </p:txBody>
      </p:sp>
      <p:sp>
        <p:nvSpPr>
          <p:cNvPr id="5" name="page"/>
          <p:cNvSpPr txBox="1"/>
          <p:nvPr/>
        </p:nvSpPr>
        <p:spPr>
          <a:xfrm>
            <a:off x="10908792" y="6446520"/>
            <a:ext cx="73152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600200"/>
            <a:ext cx="2560320" cy="1691640"/>
          </a:xfrm>
          <a:prstGeom prst="roundRect">
            <a:avLst>
              <a:gd name="adj" fmla="val 7568"/>
            </a:avLst>
          </a:prstGeom>
          <a:solidFill>
            <a:srgbClr val="FFFFFF"/>
          </a:solidFill>
          <a:ln w="12700">
            <a:solidFill>
              <a:srgbClr val="D5E1F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713232" y="1731874"/>
            <a:ext cx="22311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A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each city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713232" y="2079346"/>
            <a:ext cx="2231136" cy="11137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the normal flow once per city. Each result is saved as a stop.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2743200" y="1463040"/>
            <a:ext cx="365760" cy="365760"/>
          </a:xfrm>
          <a:prstGeom prst="ellipse">
            <a:avLst/>
          </a:prstGeom>
          <a:solidFill>
            <a:srgbClr val="0F55C8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2743200" y="14630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108960" y="2441448"/>
            <a:ext cx="274320" cy="0"/>
          </a:xfrm>
          <a:prstGeom prst="line">
            <a:avLst/>
          </a:prstGeom>
          <a:noFill/>
          <a:ln w="28575">
            <a:solidFill>
              <a:srgbClr val="0F55C8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3383280" y="1600200"/>
            <a:ext cx="2560320" cy="1691640"/>
          </a:xfrm>
          <a:prstGeom prst="roundRect">
            <a:avLst>
              <a:gd name="adj" fmla="val 7568"/>
            </a:avLst>
          </a:prstGeom>
          <a:solidFill>
            <a:srgbClr val="FFFFFF"/>
          </a:solidFill>
          <a:ln w="12700">
            <a:solidFill>
              <a:srgbClr val="D5E1F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3547872" y="1731874"/>
            <a:ext cx="22311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A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Trip cart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3547872" y="2079346"/>
            <a:ext cx="2231136" cy="11137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Stops wait in sessionStorage for 3 hours, shown in a bar above the navbar.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577840" y="1463040"/>
            <a:ext cx="365760" cy="365760"/>
          </a:xfrm>
          <a:prstGeom prst="ellipse">
            <a:avLst/>
          </a:prstGeom>
          <a:solidFill>
            <a:srgbClr val="0F55C8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5577840" y="14630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943600" y="2441448"/>
            <a:ext cx="274320" cy="0"/>
          </a:xfrm>
          <a:prstGeom prst="line">
            <a:avLst/>
          </a:prstGeom>
          <a:noFill/>
          <a:ln w="28575">
            <a:solidFill>
              <a:srgbClr val="0F55C8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6217920" y="1600200"/>
            <a:ext cx="2560320" cy="1691640"/>
          </a:xfrm>
          <a:prstGeom prst="roundRect">
            <a:avLst>
              <a:gd name="adj" fmla="val 7568"/>
            </a:avLst>
          </a:prstGeom>
          <a:solidFill>
            <a:srgbClr val="FFFFFF"/>
          </a:solidFill>
          <a:ln w="12700">
            <a:solidFill>
              <a:srgbClr val="D5E1F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 txBox="1"/>
          <p:nvPr/>
        </p:nvSpPr>
        <p:spPr>
          <a:xfrm>
            <a:off x="6382512" y="1731874"/>
            <a:ext cx="22311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A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Checkout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6382512" y="2079346"/>
            <a:ext cx="2231136" cy="11137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/trip-checkout: one traveler, every city, server-priced totals.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8412480" y="1463040"/>
            <a:ext cx="365760" cy="365760"/>
          </a:xfrm>
          <a:prstGeom prst="ellipse">
            <a:avLst/>
          </a:prstGeom>
          <a:solidFill>
            <a:srgbClr val="0F55C8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8412480" y="14630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8778240" y="2441448"/>
            <a:ext cx="274320" cy="0"/>
          </a:xfrm>
          <a:prstGeom prst="line">
            <a:avLst/>
          </a:prstGeom>
          <a:noFill/>
          <a:ln w="28575">
            <a:solidFill>
              <a:srgbClr val="0F55C8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9052560" y="1600200"/>
            <a:ext cx="2560320" cy="1691640"/>
          </a:xfrm>
          <a:prstGeom prst="roundRect">
            <a:avLst>
              <a:gd name="adj" fmla="val 7568"/>
            </a:avLst>
          </a:prstGeom>
          <a:solidFill>
            <a:srgbClr val="EAF2FF"/>
          </a:solidFill>
          <a:ln w="12700">
            <a:solidFill>
              <a:srgbClr val="BBD3F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 txBox="1"/>
          <p:nvPr/>
        </p:nvSpPr>
        <p:spPr>
          <a:xfrm>
            <a:off x="9217152" y="1731874"/>
            <a:ext cx="22311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A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booking per city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9217152" y="2079346"/>
            <a:ext cx="2231136" cy="11137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share a tripId. Each is priced, paid and cancelled on its own.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11247120" y="1463040"/>
            <a:ext cx="365760" cy="365760"/>
          </a:xfrm>
          <a:prstGeom prst="ellipse">
            <a:avLst/>
          </a:prstGeom>
          <a:solidFill>
            <a:srgbClr val="0F55C8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11247120" y="14630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548640" y="3611880"/>
            <a:ext cx="5486400" cy="2377440"/>
          </a:xfrm>
          <a:prstGeom prst="roundRect">
            <a:avLst>
              <a:gd name="adj" fmla="val 5385"/>
            </a:avLst>
          </a:prstGeom>
          <a:solidFill>
            <a:srgbClr val="FFFFFF"/>
          </a:solidFill>
          <a:ln w="12700">
            <a:solidFill>
              <a:srgbClr val="D5E1F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30" name="Text 28"/>
          <p:cNvSpPr txBox="1"/>
          <p:nvPr/>
        </p:nvSpPr>
        <p:spPr>
          <a:xfrm>
            <a:off x="749808" y="3772814"/>
            <a:ext cx="50840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0A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 the server enforces</a:t>
            </a:r>
            <a:endParaRPr lang="en-US" sz="1700" dirty="0"/>
          </a:p>
        </p:txBody>
      </p:sp>
      <p:sp>
        <p:nvSpPr>
          <p:cNvPr id="31" name="Text 29"/>
          <p:cNvSpPr txBox="1"/>
          <p:nvPr/>
        </p:nvSpPr>
        <p:spPr>
          <a:xfrm>
            <a:off x="749808" y="4175150"/>
            <a:ext cx="5084064" cy="16934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Stops of one trip may not overlap (a stop may start the day another ends)</a:t>
            </a:r>
            <a:endParaRPr lang="en-US" sz="1400" dirty="0"/>
          </a:p>
          <a:p>
            <a:pPr algn="l"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most 6 cities per trip</a:t>
            </a:r>
            <a:endParaRPr lang="en-US" sz="1400" dirty="0"/>
          </a:p>
          <a:p>
            <a:pPr algn="l"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tripId must look like trip_ plus 8 to 40 letters or digits</a:t>
            </a:r>
            <a:endParaRPr lang="en-US" sz="1400" dirty="0"/>
          </a:p>
          <a:p>
            <a:pPr algn="l"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your own stops count: every query filters by user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6309360" y="3611880"/>
            <a:ext cx="5303520" cy="2377440"/>
          </a:xfrm>
          <a:prstGeom prst="roundRect">
            <a:avLst>
              <a:gd name="adj" fmla="val 5385"/>
            </a:avLst>
          </a:prstGeom>
          <a:solidFill>
            <a:srgbClr val="FFF1E6"/>
          </a:solidFill>
          <a:ln w="12700">
            <a:solidFill>
              <a:srgbClr val="F7D9C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33" name="Text 31"/>
          <p:cNvSpPr txBox="1"/>
          <p:nvPr/>
        </p:nvSpPr>
        <p:spPr>
          <a:xfrm>
            <a:off x="6510528" y="3772814"/>
            <a:ext cx="49011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0A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Paying and finishing</a:t>
            </a:r>
            <a:endParaRPr lang="en-US" sz="1700" dirty="0"/>
          </a:p>
        </p:txBody>
      </p:sp>
      <p:sp>
        <p:nvSpPr>
          <p:cNvPr id="34" name="Text 32"/>
          <p:cNvSpPr txBox="1"/>
          <p:nvPr/>
        </p:nvSpPr>
        <p:spPr>
          <a:xfrm>
            <a:off x="6510528" y="4175150"/>
            <a:ext cx="4901184" cy="16934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walks the cities in order: city 1 of N, city 2 of N</a:t>
            </a:r>
            <a:endParaRPr lang="en-US" sz="1400" dirty="0"/>
          </a:p>
          <a:p>
            <a:pPr algn="l"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Skip the rest and pay later from My Trips with Pay now</a:t>
            </a:r>
            <a:endParaRPr lang="en-US" sz="1400" dirty="0"/>
          </a:p>
          <a:p>
            <a:pPr algn="l"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confirmation lists every city, its reference and the total</a:t>
            </a:r>
            <a:endParaRPr lang="en-US" sz="1400" dirty="0"/>
          </a:p>
          <a:p>
            <a:pPr algn="l"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Cancelling one city leaves the others in place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48640" y="292608"/>
            <a:ext cx="11064240" cy="6858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A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model</a:t>
            </a:r>
            <a:endParaRPr lang="en-US" sz="3000" dirty="0"/>
          </a:p>
        </p:txBody>
      </p:sp>
      <p:sp>
        <p:nvSpPr>
          <p:cNvPr id="3" name="subtitle"/>
          <p:cNvSpPr txBox="1"/>
          <p:nvPr/>
        </p:nvSpPr>
        <p:spPr>
          <a:xfrm>
            <a:off x="548640" y="932688"/>
            <a:ext cx="11064240" cy="4114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Nine MongoDB collections; a booking keeps its own copy of hotel and price data</a:t>
            </a:r>
            <a:endParaRPr lang="en-US" sz="1600" dirty="0"/>
          </a:p>
        </p:txBody>
      </p:sp>
      <p:sp>
        <p:nvSpPr>
          <p:cNvPr id="4" name="footer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VOYARA  ·  System design</a:t>
            </a:r>
            <a:endParaRPr lang="en-US" sz="1000" dirty="0"/>
          </a:p>
        </p:txBody>
      </p:sp>
      <p:sp>
        <p:nvSpPr>
          <p:cNvPr id="5" name="page"/>
          <p:cNvSpPr txBox="1"/>
          <p:nvPr/>
        </p:nvSpPr>
        <p:spPr>
          <a:xfrm>
            <a:off x="10908792" y="6446520"/>
            <a:ext cx="73152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508760"/>
            <a:ext cx="2331720" cy="196596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 w="12700">
            <a:solidFill>
              <a:srgbClr val="D5E1F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658368" y="1581912"/>
            <a:ext cx="21122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A2A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users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658368" y="1947672"/>
            <a:ext cx="211226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name, email (unique)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 (bcrypt, hidden)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role: user or admin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only through a script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429000" y="1508760"/>
            <a:ext cx="2331720" cy="1965960"/>
          </a:xfrm>
          <a:prstGeom prst="roundRect">
            <a:avLst>
              <a:gd name="adj" fmla="val 5581"/>
            </a:avLst>
          </a:prstGeom>
          <a:solidFill>
            <a:srgbClr val="EAF2FF"/>
          </a:solidFill>
          <a:ln w="25400">
            <a:solidFill>
              <a:srgbClr val="0F55C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3538728" y="1581912"/>
            <a:ext cx="21122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F55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bookings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3538728" y="1947672"/>
            <a:ext cx="211226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bookingReference (unique)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user, tripId, traveler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accommodation, room copy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dates, guests, pricing, addons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status, paymentStatus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309360" y="1508760"/>
            <a:ext cx="2331720" cy="196596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 w="12700">
            <a:solidFill>
              <a:srgbClr val="D5E1F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6419088" y="1581912"/>
            <a:ext cx="21122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A2A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rooms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6419088" y="1947672"/>
            <a:ext cx="211226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stay, name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pricePerNight, maxGuests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totalRooms, amenities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per stay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9189720" y="1508760"/>
            <a:ext cx="2331720" cy="196596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 w="12700">
            <a:solidFill>
              <a:srgbClr val="D5E1F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9299448" y="1581912"/>
            <a:ext cx="21122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A2A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stays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9299448" y="1947672"/>
            <a:ext cx="211226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name, address, lat, lon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geoapifyPlaceId, category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saved when a traveler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picks a hotel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48640" y="3840480"/>
            <a:ext cx="2331720" cy="1600200"/>
          </a:xfrm>
          <a:prstGeom prst="roundRect">
            <a:avLst>
              <a:gd name="adj" fmla="val 6857"/>
            </a:avLst>
          </a:prstGeom>
          <a:solidFill>
            <a:srgbClr val="FFFFFF"/>
          </a:solidFill>
          <a:ln w="12700">
            <a:solidFill>
              <a:srgbClr val="D5E1F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 txBox="1"/>
          <p:nvPr/>
        </p:nvSpPr>
        <p:spPr>
          <a:xfrm>
            <a:off x="658368" y="3913632"/>
            <a:ext cx="21122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A2A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reviews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658368" y="4279392"/>
            <a:ext cx="211226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user, itemType, itemId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rating 1 to 5, comment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photos, helpful votes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per user and item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3429000" y="3840480"/>
            <a:ext cx="2331720" cy="1600200"/>
          </a:xfrm>
          <a:prstGeom prst="roundRect">
            <a:avLst>
              <a:gd name="adj" fmla="val 6857"/>
            </a:avLst>
          </a:prstGeom>
          <a:solidFill>
            <a:srgbClr val="FFFFFF"/>
          </a:solidFill>
          <a:ln w="12700">
            <a:solidFill>
              <a:srgbClr val="D5E1F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 txBox="1"/>
          <p:nvPr/>
        </p:nvSpPr>
        <p:spPr>
          <a:xfrm>
            <a:off x="3538728" y="3913632"/>
            <a:ext cx="21122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A2A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favorites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3538728" y="4279392"/>
            <a:ext cx="211226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user, itemType, itemId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 fields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per user and item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309360" y="3840480"/>
            <a:ext cx="2331720" cy="1600200"/>
          </a:xfrm>
          <a:prstGeom prst="roundRect">
            <a:avLst>
              <a:gd name="adj" fmla="val 6857"/>
            </a:avLst>
          </a:prstGeom>
          <a:solidFill>
            <a:srgbClr val="FFFFFF"/>
          </a:solidFill>
          <a:ln w="12700">
            <a:solidFill>
              <a:srgbClr val="D5E1F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 txBox="1"/>
          <p:nvPr/>
        </p:nvSpPr>
        <p:spPr>
          <a:xfrm>
            <a:off x="6419088" y="3913632"/>
            <a:ext cx="21122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A2A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states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6419088" y="4279392"/>
            <a:ext cx="211226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 records: name, slug,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region, image,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popularPlaces, text index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9189720" y="3840480"/>
            <a:ext cx="2331720" cy="1600200"/>
          </a:xfrm>
          <a:prstGeom prst="roundRect">
            <a:avLst>
              <a:gd name="adj" fmla="val 6857"/>
            </a:avLst>
          </a:prstGeom>
          <a:solidFill>
            <a:srgbClr val="FFFFFF"/>
          </a:solidFill>
          <a:ln w="12700">
            <a:solidFill>
              <a:srgbClr val="D5E1F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 txBox="1"/>
          <p:nvPr/>
        </p:nvSpPr>
        <p:spPr>
          <a:xfrm>
            <a:off x="9299448" y="3913632"/>
            <a:ext cx="21122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A2A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touristplaces</a:t>
            </a:r>
            <a:endParaRPr lang="en-US" sz="1600" dirty="0"/>
          </a:p>
        </p:txBody>
      </p:sp>
      <p:sp>
        <p:nvSpPr>
          <p:cNvPr id="29" name="Text 27"/>
          <p:cNvSpPr txBox="1"/>
          <p:nvPr/>
        </p:nvSpPr>
        <p:spPr>
          <a:xfrm>
            <a:off x="9299448" y="4279392"/>
            <a:ext cx="211226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234 curated: name, slug,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stateSlug, lat, lon, image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and stateSlug indexes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2880360" y="2487168"/>
            <a:ext cx="548640" cy="0"/>
          </a:xfrm>
          <a:prstGeom prst="line">
            <a:avLst/>
          </a:prstGeom>
          <a:noFill/>
          <a:ln w="25400">
            <a:solidFill>
              <a:srgbClr val="0F55C8"/>
            </a:solidFill>
            <a:prstDash val="solid"/>
            <a:tailEnd type="triangle"/>
          </a:ln>
        </p:spPr>
      </p:sp>
      <p:sp>
        <p:nvSpPr>
          <p:cNvPr id="31" name="Text 29"/>
          <p:cNvSpPr txBox="1"/>
          <p:nvPr/>
        </p:nvSpPr>
        <p:spPr>
          <a:xfrm>
            <a:off x="2834640" y="219456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 flipH="1">
            <a:off x="5760720" y="2487168"/>
            <a:ext cx="548640" cy="0"/>
          </a:xfrm>
          <a:prstGeom prst="line">
            <a:avLst/>
          </a:prstGeom>
          <a:noFill/>
          <a:ln w="25400">
            <a:solidFill>
              <a:srgbClr val="0F55C8"/>
            </a:solidFill>
            <a:prstDash val="solid"/>
            <a:tailEnd type="triangle"/>
          </a:ln>
        </p:spPr>
      </p:sp>
      <p:sp>
        <p:nvSpPr>
          <p:cNvPr id="33" name="Text 31"/>
          <p:cNvSpPr txBox="1"/>
          <p:nvPr/>
        </p:nvSpPr>
        <p:spPr>
          <a:xfrm>
            <a:off x="5715000" y="219456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room.id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 flipH="1">
            <a:off x="8641080" y="2487168"/>
            <a:ext cx="548640" cy="0"/>
          </a:xfrm>
          <a:prstGeom prst="line">
            <a:avLst/>
          </a:prstGeom>
          <a:noFill/>
          <a:ln w="25400">
            <a:solidFill>
              <a:srgbClr val="0F55C8"/>
            </a:solidFill>
            <a:prstDash val="solid"/>
            <a:tailEnd type="triangle"/>
          </a:ln>
        </p:spPr>
      </p:sp>
      <p:sp>
        <p:nvSpPr>
          <p:cNvPr id="35" name="Text 33"/>
          <p:cNvSpPr txBox="1"/>
          <p:nvPr/>
        </p:nvSpPr>
        <p:spPr>
          <a:xfrm>
            <a:off x="8595360" y="219456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stay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8641080" y="4636008"/>
            <a:ext cx="548640" cy="0"/>
          </a:xfrm>
          <a:prstGeom prst="line">
            <a:avLst/>
          </a:prstGeom>
          <a:noFill/>
          <a:ln w="25400">
            <a:solidFill>
              <a:srgbClr val="0F55C8"/>
            </a:solidFill>
            <a:prstDash val="solid"/>
            <a:tailEnd type="triangle"/>
          </a:ln>
        </p:spPr>
      </p:sp>
      <p:sp>
        <p:nvSpPr>
          <p:cNvPr id="37" name="Text 35"/>
          <p:cNvSpPr txBox="1"/>
          <p:nvPr/>
        </p:nvSpPr>
        <p:spPr>
          <a:xfrm>
            <a:off x="8572500" y="4343400"/>
            <a:ext cx="68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stateSlug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1714500" y="3474720"/>
            <a:ext cx="0" cy="182880"/>
          </a:xfrm>
          <a:prstGeom prst="line">
            <a:avLst/>
          </a:prstGeom>
          <a:noFill/>
          <a:ln w="25400">
            <a:solidFill>
              <a:srgbClr val="0F55C8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714500" y="3657600"/>
            <a:ext cx="0" cy="182880"/>
          </a:xfrm>
          <a:prstGeom prst="line">
            <a:avLst/>
          </a:prstGeom>
          <a:noFill/>
          <a:ln w="25400">
            <a:solidFill>
              <a:srgbClr val="0F55C8"/>
            </a:solidFill>
            <a:prstDash val="solid"/>
            <a:tailEnd type="triangle"/>
          </a:ln>
        </p:spPr>
      </p:sp>
      <p:sp>
        <p:nvSpPr>
          <p:cNvPr id="40" name="Shape 38"/>
          <p:cNvSpPr/>
          <p:nvPr/>
        </p:nvSpPr>
        <p:spPr>
          <a:xfrm>
            <a:off x="1714500" y="3657600"/>
            <a:ext cx="2880360" cy="0"/>
          </a:xfrm>
          <a:prstGeom prst="line">
            <a:avLst/>
          </a:prstGeom>
          <a:noFill/>
          <a:ln w="25400">
            <a:solidFill>
              <a:srgbClr val="0F55C8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594860" y="3657600"/>
            <a:ext cx="0" cy="182880"/>
          </a:xfrm>
          <a:prstGeom prst="line">
            <a:avLst/>
          </a:prstGeom>
          <a:noFill/>
          <a:ln w="25400">
            <a:solidFill>
              <a:srgbClr val="0F55C8"/>
            </a:solidFill>
            <a:prstDash val="solid"/>
            <a:tailEnd type="triangle"/>
          </a:ln>
        </p:spPr>
      </p:sp>
      <p:sp>
        <p:nvSpPr>
          <p:cNvPr id="42" name="Shape 40"/>
          <p:cNvSpPr/>
          <p:nvPr/>
        </p:nvSpPr>
        <p:spPr>
          <a:xfrm>
            <a:off x="548640" y="5669280"/>
            <a:ext cx="11064240" cy="566928"/>
          </a:xfrm>
          <a:prstGeom prst="roundRect">
            <a:avLst>
              <a:gd name="adj" fmla="val 19355"/>
            </a:avLst>
          </a:prstGeom>
          <a:solidFill>
            <a:srgbClr val="FFFFFF"/>
          </a:solidFill>
          <a:ln w="12700">
            <a:solidFill>
              <a:srgbClr val="D5E1F2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685800" y="5669280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A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contactmessages</a:t>
            </a:r>
            <a:endParaRPr lang="en-US" sz="14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name, email, subject, message, status new or read. Written from the Contact page, read by admins only.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48640" y="292608"/>
            <a:ext cx="11064240" cy="6858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A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 engine</a:t>
            </a:r>
            <a:endParaRPr lang="en-US" sz="3000" dirty="0"/>
          </a:p>
        </p:txBody>
      </p:sp>
      <p:sp>
        <p:nvSpPr>
          <p:cNvPr id="3" name="subtitle"/>
          <p:cNvSpPr txBox="1"/>
          <p:nvPr/>
        </p:nvSpPr>
        <p:spPr>
          <a:xfrm>
            <a:off x="548640" y="932688"/>
            <a:ext cx="11064240" cy="4114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function works out every amount, so the quote and the booking always agree</a:t>
            </a:r>
            <a:endParaRPr lang="en-US" sz="1600" dirty="0"/>
          </a:p>
        </p:txBody>
      </p:sp>
      <p:sp>
        <p:nvSpPr>
          <p:cNvPr id="4" name="footer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VOYARA  ·  System design</a:t>
            </a:r>
            <a:endParaRPr lang="en-US" sz="1000" dirty="0"/>
          </a:p>
        </p:txBody>
      </p:sp>
      <p:sp>
        <p:nvSpPr>
          <p:cNvPr id="5" name="page"/>
          <p:cNvSpPr txBox="1"/>
          <p:nvPr/>
        </p:nvSpPr>
        <p:spPr>
          <a:xfrm>
            <a:off x="10908792" y="6446520"/>
            <a:ext cx="73152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600200"/>
            <a:ext cx="4572000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D5E1F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731520" y="1709928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0A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 sends choices only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2130552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Room id, counts, meal plan, vehicle and activity ids. Never a price.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2834640" y="2834640"/>
            <a:ext cx="0" cy="365760"/>
          </a:xfrm>
          <a:prstGeom prst="line">
            <a:avLst/>
          </a:prstGeom>
          <a:noFill/>
          <a:ln w="31750">
            <a:solidFill>
              <a:srgbClr val="0F55C8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548640" y="3200400"/>
            <a:ext cx="4572000" cy="1234440"/>
          </a:xfrm>
          <a:prstGeom prst="roundRect">
            <a:avLst>
              <a:gd name="adj" fmla="val 8889"/>
            </a:avLst>
          </a:prstGeom>
          <a:solidFill>
            <a:srgbClr val="0A2A5E"/>
          </a:solidFill>
          <a:ln w="12700">
            <a:solidFill>
              <a:srgbClr val="0A2A5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731520" y="3310128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priceBooking()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731520" y="3730752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services/addonCatalog.js is the only place money is calculated.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2834640" y="4434840"/>
            <a:ext cx="0" cy="365760"/>
          </a:xfrm>
          <a:prstGeom prst="line">
            <a:avLst/>
          </a:prstGeom>
          <a:noFill/>
          <a:ln w="31750">
            <a:solidFill>
              <a:srgbClr val="0F55C8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548640" y="4800600"/>
            <a:ext cx="4572000" cy="1234440"/>
          </a:xfrm>
          <a:prstGeom prst="roundRect">
            <a:avLst>
              <a:gd name="adj" fmla="val 8889"/>
            </a:avLst>
          </a:prstGeom>
          <a:solidFill>
            <a:srgbClr val="EAF2FF"/>
          </a:solidFill>
          <a:ln w="12700">
            <a:solidFill>
              <a:srgbClr val="BBD3F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731520" y="4910328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0A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answer everywhere</a:t>
            </a:r>
            <a:endParaRPr lang="en-US" sz="1700" dirty="0"/>
          </a:p>
        </p:txBody>
      </p:sp>
      <p:sp>
        <p:nvSpPr>
          <p:cNvPr id="16" name="Text 14"/>
          <p:cNvSpPr txBox="1"/>
          <p:nvPr/>
        </p:nvSpPr>
        <p:spPr>
          <a:xfrm>
            <a:off x="731520" y="5330952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/addons/quote shows it live. POST /bookings stores it.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577840" y="1600200"/>
            <a:ext cx="6035040" cy="4709160"/>
          </a:xfrm>
          <a:prstGeom prst="roundRect">
            <a:avLst>
              <a:gd name="adj" fmla="val 2718"/>
            </a:avLst>
          </a:prstGeom>
          <a:solidFill>
            <a:srgbClr val="FFFFFF"/>
          </a:solidFill>
          <a:ln w="12700">
            <a:solidFill>
              <a:srgbClr val="D5E1F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 txBox="1"/>
          <p:nvPr/>
        </p:nvSpPr>
        <p:spPr>
          <a:xfrm>
            <a:off x="5806440" y="1719072"/>
            <a:ext cx="5577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A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total is built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5852160" y="2240280"/>
            <a:ext cx="1463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A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Room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7315200" y="2240280"/>
            <a:ext cx="4023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room price × rooms × nights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5852160" y="2843784"/>
            <a:ext cx="1463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A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Meals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7315200" y="2843784"/>
            <a:ext cx="4023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meal price × (adults + children × 0.5) × nights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5852160" y="3447288"/>
            <a:ext cx="1463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A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travel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7315200" y="3447288"/>
            <a:ext cx="4023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 rate (AC or not) × days × vehicles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5852160" y="4050792"/>
            <a:ext cx="1463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A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Activities</a:t>
            </a:r>
            <a:endParaRPr lang="en-US" sz="1500" dirty="0"/>
          </a:p>
        </p:txBody>
      </p:sp>
      <p:sp>
        <p:nvSpPr>
          <p:cNvPr id="26" name="Text 24"/>
          <p:cNvSpPr txBox="1"/>
          <p:nvPr/>
        </p:nvSpPr>
        <p:spPr>
          <a:xfrm>
            <a:off x="7315200" y="4050792"/>
            <a:ext cx="4023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per-person or per-group price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5852160" y="4654296"/>
            <a:ext cx="1463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A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Taxes</a:t>
            </a:r>
            <a:endParaRPr lang="en-US" sz="1500" dirty="0"/>
          </a:p>
        </p:txBody>
      </p:sp>
      <p:sp>
        <p:nvSpPr>
          <p:cNvPr id="28" name="Text 26"/>
          <p:cNvSpPr txBox="1"/>
          <p:nvPr/>
        </p:nvSpPr>
        <p:spPr>
          <a:xfrm>
            <a:off x="7315200" y="4654296"/>
            <a:ext cx="4023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5% of room + meals + travel + activities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5760720" y="5230368"/>
            <a:ext cx="5669280" cy="566928"/>
          </a:xfrm>
          <a:prstGeom prst="roundRect">
            <a:avLst>
              <a:gd name="adj" fmla="val 16129"/>
            </a:avLst>
          </a:prstGeom>
          <a:solidFill>
            <a:srgbClr val="EAF2FF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5852160" y="5257800"/>
            <a:ext cx="1463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F5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</a:t>
            </a:r>
            <a:endParaRPr lang="en-US" sz="1500" dirty="0"/>
          </a:p>
        </p:txBody>
      </p:sp>
      <p:sp>
        <p:nvSpPr>
          <p:cNvPr id="31" name="Text 29"/>
          <p:cNvSpPr txBox="1"/>
          <p:nvPr/>
        </p:nvSpPr>
        <p:spPr>
          <a:xfrm>
            <a:off x="7315200" y="5257800"/>
            <a:ext cx="4023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room + extras + taxes</a:t>
            </a:r>
            <a:endParaRPr lang="en-US" sz="1400" dirty="0"/>
          </a:p>
        </p:txBody>
      </p:sp>
      <p:sp>
        <p:nvSpPr>
          <p:cNvPr id="32" name="Text 30"/>
          <p:cNvSpPr txBox="1"/>
          <p:nvPr/>
        </p:nvSpPr>
        <p:spPr>
          <a:xfrm>
            <a:off x="5806440" y="5833872"/>
            <a:ext cx="5577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Meal prices scale with the room price (factor 0.7 to 2.5). Vehicles: cab, SUV, bike, bus.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48640" y="292608"/>
            <a:ext cx="11064240" cy="6858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A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Availability and the last-room race</a:t>
            </a:r>
            <a:endParaRPr lang="en-US" sz="3000" dirty="0"/>
          </a:p>
        </p:txBody>
      </p:sp>
      <p:sp>
        <p:nvSpPr>
          <p:cNvPr id="3" name="subtitle"/>
          <p:cNvSpPr txBox="1"/>
          <p:nvPr/>
        </p:nvSpPr>
        <p:spPr>
          <a:xfrm>
            <a:off x="548640" y="932688"/>
            <a:ext cx="11064240" cy="4114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Rooms left are counted from bookings, then re-checked after saving</a:t>
            </a:r>
            <a:endParaRPr lang="en-US" sz="1600" dirty="0"/>
          </a:p>
        </p:txBody>
      </p:sp>
      <p:sp>
        <p:nvSpPr>
          <p:cNvPr id="4" name="footer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VOYARA  ·  System design</a:t>
            </a:r>
            <a:endParaRPr lang="en-US" sz="1000" dirty="0"/>
          </a:p>
        </p:txBody>
      </p:sp>
      <p:sp>
        <p:nvSpPr>
          <p:cNvPr id="5" name="page"/>
          <p:cNvSpPr txBox="1"/>
          <p:nvPr/>
        </p:nvSpPr>
        <p:spPr>
          <a:xfrm>
            <a:off x="10908792" y="6446520"/>
            <a:ext cx="73152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554480"/>
            <a:ext cx="5669280" cy="4709160"/>
          </a:xfrm>
          <a:prstGeom prst="roundRect">
            <a:avLst>
              <a:gd name="adj" fmla="val 2718"/>
            </a:avLst>
          </a:prstGeom>
          <a:solidFill>
            <a:srgbClr val="FFFFFF"/>
          </a:solidFill>
          <a:ln w="12700">
            <a:solidFill>
              <a:srgbClr val="D5E1F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749808" y="1715414"/>
            <a:ext cx="52669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A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Computed, never stored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1828800" y="2331720"/>
            <a:ext cx="1920240" cy="310896"/>
          </a:xfrm>
          <a:prstGeom prst="roundRect">
            <a:avLst>
              <a:gd name="adj" fmla="val 23529"/>
            </a:avLst>
          </a:prstGeom>
          <a:solidFill>
            <a:srgbClr val="53B2FE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49808" y="2313432"/>
            <a:ext cx="1051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 A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743200" y="2788920"/>
            <a:ext cx="2011680" cy="310896"/>
          </a:xfrm>
          <a:prstGeom prst="roundRect">
            <a:avLst>
              <a:gd name="adj" fmla="val 23529"/>
            </a:avLst>
          </a:prstGeom>
          <a:solidFill>
            <a:srgbClr val="53B2FE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49808" y="2770632"/>
            <a:ext cx="1051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 B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383280" y="3337560"/>
            <a:ext cx="2286000" cy="310896"/>
          </a:xfrm>
          <a:prstGeom prst="roundRect">
            <a:avLst>
              <a:gd name="adj" fmla="val 23529"/>
            </a:avLst>
          </a:prstGeom>
          <a:solidFill>
            <a:srgbClr val="F26A1B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749808" y="3319272"/>
            <a:ext cx="1051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dates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383280" y="2194560"/>
            <a:ext cx="0" cy="1645920"/>
          </a:xfrm>
          <a:prstGeom prst="line">
            <a:avLst/>
          </a:prstGeom>
          <a:noFill/>
          <a:ln w="19050">
            <a:solidFill>
              <a:srgbClr val="F26A1B"/>
            </a:solidFill>
            <a:prstDash val="dash"/>
          </a:ln>
        </p:spPr>
      </p:sp>
      <p:sp>
        <p:nvSpPr>
          <p:cNvPr id="15" name="Shape 13"/>
          <p:cNvSpPr/>
          <p:nvPr/>
        </p:nvSpPr>
        <p:spPr>
          <a:xfrm>
            <a:off x="5669280" y="2194560"/>
            <a:ext cx="0" cy="1645920"/>
          </a:xfrm>
          <a:prstGeom prst="line">
            <a:avLst/>
          </a:prstGeom>
          <a:noFill/>
          <a:ln w="19050">
            <a:solidFill>
              <a:srgbClr val="F26A1B"/>
            </a:solidFill>
            <a:prstDash val="dash"/>
          </a:ln>
        </p:spPr>
      </p:sp>
      <p:sp>
        <p:nvSpPr>
          <p:cNvPr id="16" name="Text 14"/>
          <p:cNvSpPr txBox="1"/>
          <p:nvPr/>
        </p:nvSpPr>
        <p:spPr>
          <a:xfrm>
            <a:off x="2971800" y="384048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26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check-in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5257800" y="384048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26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check-out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749808" y="4297680"/>
            <a:ext cx="53035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Rooms left = total rooms − rooms of every pending or confirmed booking that overlaps.</a:t>
            </a:r>
            <a:endParaRPr lang="en-US" sz="1400" dirty="0"/>
          </a:p>
          <a:p>
            <a:pPr algn="l"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Overlap means: existing check-in &lt; new check-out and existing check-out &gt; new check-in.</a:t>
            </a:r>
            <a:endParaRPr lang="en-US" sz="1400" dirty="0"/>
          </a:p>
          <a:p>
            <a:pPr algn="l"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Cancelling a booking removes it from the count, so there is no counter to drift.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492240" y="1554480"/>
            <a:ext cx="5120640" cy="4709160"/>
          </a:xfrm>
          <a:prstGeom prst="roundRect">
            <a:avLst>
              <a:gd name="adj" fmla="val 2718"/>
            </a:avLst>
          </a:prstGeom>
          <a:solidFill>
            <a:srgbClr val="EAF2FF"/>
          </a:solidFill>
          <a:ln w="12700">
            <a:solidFill>
              <a:srgbClr val="BBD3F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6693408" y="1715414"/>
            <a:ext cx="47183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A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people, one last room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6766560" y="2249424"/>
            <a:ext cx="420624" cy="420624"/>
          </a:xfrm>
          <a:prstGeom prst="ellipse">
            <a:avLst/>
          </a:prstGeom>
          <a:solidFill>
            <a:srgbClr val="0F55C8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6766560" y="224942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7315200" y="2194560"/>
            <a:ext cx="4114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availability (what the traveler saw)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6766560" y="2999232"/>
            <a:ext cx="420624" cy="420624"/>
          </a:xfrm>
          <a:prstGeom prst="ellipse">
            <a:avLst/>
          </a:prstGeom>
          <a:solidFill>
            <a:srgbClr val="0F55C8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6766560" y="299923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26" name="Text 24"/>
          <p:cNvSpPr txBox="1"/>
          <p:nvPr/>
        </p:nvSpPr>
        <p:spPr>
          <a:xfrm>
            <a:off x="7315200" y="2944368"/>
            <a:ext cx="4114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the booking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6766560" y="3749040"/>
            <a:ext cx="420624" cy="420624"/>
          </a:xfrm>
          <a:prstGeom prst="ellipse">
            <a:avLst/>
          </a:prstGeom>
          <a:solidFill>
            <a:srgbClr val="0F55C8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6766560" y="374904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29" name="Text 27"/>
          <p:cNvSpPr txBox="1"/>
          <p:nvPr/>
        </p:nvSpPr>
        <p:spPr>
          <a:xfrm>
            <a:off x="7315200" y="3694176"/>
            <a:ext cx="4114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Recount only bookings created before this one (lower _id)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6766560" y="4498848"/>
            <a:ext cx="420624" cy="420624"/>
          </a:xfrm>
          <a:prstGeom prst="ellipse">
            <a:avLst/>
          </a:prstGeom>
          <a:solidFill>
            <a:srgbClr val="0F55C8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6766560" y="44988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32" name="Text 30"/>
          <p:cNvSpPr txBox="1"/>
          <p:nvPr/>
        </p:nvSpPr>
        <p:spPr>
          <a:xfrm>
            <a:off x="7315200" y="4443984"/>
            <a:ext cx="4114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Over-full? Undo this booking and answer 409</a:t>
            </a:r>
            <a:endParaRPr lang="en-US" sz="1400" dirty="0"/>
          </a:p>
        </p:txBody>
      </p:sp>
      <p:sp>
        <p:nvSpPr>
          <p:cNvPr id="33" name="Text 31"/>
          <p:cNvSpPr txBox="1"/>
          <p:nvPr/>
        </p:nvSpPr>
        <p:spPr>
          <a:xfrm>
            <a:off x="6693408" y="5257800"/>
            <a:ext cx="4709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racer counts in the same order, so exactly the ones that do not fit are undone. A MongoDB transaction would be the cleaner next step.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48640" y="292608"/>
            <a:ext cx="11064240" cy="6858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A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Payments with Razorpay</a:t>
            </a:r>
            <a:endParaRPr lang="en-US" sz="3000" dirty="0"/>
          </a:p>
        </p:txBody>
      </p:sp>
      <p:sp>
        <p:nvSpPr>
          <p:cNvPr id="3" name="subtitle"/>
          <p:cNvSpPr txBox="1"/>
          <p:nvPr/>
        </p:nvSpPr>
        <p:spPr>
          <a:xfrm>
            <a:off x="548640" y="932688"/>
            <a:ext cx="11064240" cy="4114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browser never sets the amount, and only a signed Razorpay result marks a booking paid</a:t>
            </a:r>
            <a:endParaRPr lang="en-US" sz="1600" dirty="0"/>
          </a:p>
        </p:txBody>
      </p:sp>
      <p:sp>
        <p:nvSpPr>
          <p:cNvPr id="4" name="footer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VOYARA  ·  System design</a:t>
            </a:r>
            <a:endParaRPr lang="en-US" sz="1000" dirty="0"/>
          </a:p>
        </p:txBody>
      </p:sp>
      <p:sp>
        <p:nvSpPr>
          <p:cNvPr id="5" name="page"/>
          <p:cNvSpPr txBox="1"/>
          <p:nvPr/>
        </p:nvSpPr>
        <p:spPr>
          <a:xfrm>
            <a:off x="10908792" y="6446520"/>
            <a:ext cx="73152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1920240" y="2057400"/>
            <a:ext cx="0" cy="3154680"/>
          </a:xfrm>
          <a:prstGeom prst="line">
            <a:avLst/>
          </a:prstGeom>
          <a:noFill/>
          <a:ln w="15875">
            <a:solidFill>
              <a:srgbClr val="B7C7E3"/>
            </a:solidFill>
            <a:prstDash val="dash"/>
          </a:ln>
        </p:spPr>
      </p:sp>
      <p:sp>
        <p:nvSpPr>
          <p:cNvPr id="7" name="Shape 5"/>
          <p:cNvSpPr/>
          <p:nvPr/>
        </p:nvSpPr>
        <p:spPr>
          <a:xfrm>
            <a:off x="640080" y="1508760"/>
            <a:ext cx="2560320" cy="502920"/>
          </a:xfrm>
          <a:prstGeom prst="roundRect">
            <a:avLst>
              <a:gd name="adj" fmla="val 21818"/>
            </a:avLst>
          </a:prstGeom>
          <a:solidFill>
            <a:srgbClr val="0A2A5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150876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099048" y="2057400"/>
            <a:ext cx="0" cy="3154680"/>
          </a:xfrm>
          <a:prstGeom prst="line">
            <a:avLst/>
          </a:prstGeom>
          <a:noFill/>
          <a:ln w="15875">
            <a:solidFill>
              <a:srgbClr val="B7C7E3"/>
            </a:solidFill>
            <a:prstDash val="dash"/>
          </a:ln>
        </p:spPr>
      </p:sp>
      <p:sp>
        <p:nvSpPr>
          <p:cNvPr id="10" name="Shape 8"/>
          <p:cNvSpPr/>
          <p:nvPr/>
        </p:nvSpPr>
        <p:spPr>
          <a:xfrm>
            <a:off x="4818888" y="1508760"/>
            <a:ext cx="2560320" cy="502920"/>
          </a:xfrm>
          <a:prstGeom prst="roundRect">
            <a:avLst>
              <a:gd name="adj" fmla="val 21818"/>
            </a:avLst>
          </a:prstGeom>
          <a:solidFill>
            <a:srgbClr val="0A2A5E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818888" y="150876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VOYARA API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10241280" y="2057400"/>
            <a:ext cx="0" cy="3154680"/>
          </a:xfrm>
          <a:prstGeom prst="line">
            <a:avLst/>
          </a:prstGeom>
          <a:noFill/>
          <a:ln w="15875">
            <a:solidFill>
              <a:srgbClr val="B7C7E3"/>
            </a:solidFill>
            <a:prstDash val="dash"/>
          </a:ln>
        </p:spPr>
      </p:sp>
      <p:sp>
        <p:nvSpPr>
          <p:cNvPr id="13" name="Shape 11"/>
          <p:cNvSpPr/>
          <p:nvPr/>
        </p:nvSpPr>
        <p:spPr>
          <a:xfrm>
            <a:off x="8961120" y="1508760"/>
            <a:ext cx="2560320" cy="502920"/>
          </a:xfrm>
          <a:prstGeom prst="roundRect">
            <a:avLst>
              <a:gd name="adj" fmla="val 21818"/>
            </a:avLst>
          </a:prstGeom>
          <a:solidFill>
            <a:srgbClr val="0A2A5E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961120" y="150876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Razorpay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1920240" y="2606040"/>
            <a:ext cx="4178808" cy="0"/>
          </a:xfrm>
          <a:prstGeom prst="line">
            <a:avLst/>
          </a:prstGeom>
          <a:noFill/>
          <a:ln w="28575">
            <a:solidFill>
              <a:srgbClr val="0F55C8"/>
            </a:solidFill>
            <a:prstDash val="solid"/>
            <a:tailEnd type="triangle"/>
          </a:ln>
        </p:spPr>
      </p:sp>
      <p:sp>
        <p:nvSpPr>
          <p:cNvPr id="16" name="Text 14"/>
          <p:cNvSpPr txBox="1"/>
          <p:nvPr/>
        </p:nvSpPr>
        <p:spPr>
          <a:xfrm>
            <a:off x="2011680" y="2276856"/>
            <a:ext cx="39959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Create order: only the booking id is sent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099048" y="3200400"/>
            <a:ext cx="4142232" cy="0"/>
          </a:xfrm>
          <a:prstGeom prst="line">
            <a:avLst/>
          </a:prstGeom>
          <a:noFill/>
          <a:ln w="28575">
            <a:solidFill>
              <a:srgbClr val="0F55C8"/>
            </a:solidFill>
            <a:prstDash val="solid"/>
            <a:tailEnd type="triangle"/>
          </a:ln>
        </p:spPr>
      </p:sp>
      <p:sp>
        <p:nvSpPr>
          <p:cNvPr id="18" name="Text 16"/>
          <p:cNvSpPr txBox="1"/>
          <p:nvPr/>
        </p:nvSpPr>
        <p:spPr>
          <a:xfrm>
            <a:off x="6190488" y="2871216"/>
            <a:ext cx="39593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Order made for the amount stored in the booking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1920240" y="3794760"/>
            <a:ext cx="8321040" cy="0"/>
          </a:xfrm>
          <a:prstGeom prst="line">
            <a:avLst/>
          </a:prstGeom>
          <a:noFill/>
          <a:ln w="28575">
            <a:solidFill>
              <a:srgbClr val="0F55C8"/>
            </a:solidFill>
            <a:prstDash val="solid"/>
            <a:tailEnd type="triangle"/>
          </a:ln>
        </p:spPr>
      </p:sp>
      <p:sp>
        <p:nvSpPr>
          <p:cNvPr id="20" name="Text 18"/>
          <p:cNvSpPr txBox="1"/>
          <p:nvPr/>
        </p:nvSpPr>
        <p:spPr>
          <a:xfrm>
            <a:off x="2011680" y="3465576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Checkout window: card or UPI is typed here only, never sent to VOYARA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1920240" y="4389120"/>
            <a:ext cx="4178808" cy="0"/>
          </a:xfrm>
          <a:prstGeom prst="line">
            <a:avLst/>
          </a:prstGeom>
          <a:noFill/>
          <a:ln w="28575">
            <a:solidFill>
              <a:srgbClr val="0F55C8"/>
            </a:solidFill>
            <a:prstDash val="solid"/>
            <a:tailEnd type="triangle"/>
          </a:ln>
        </p:spPr>
      </p:sp>
      <p:sp>
        <p:nvSpPr>
          <p:cNvPr id="22" name="Text 20"/>
          <p:cNvSpPr txBox="1"/>
          <p:nvPr/>
        </p:nvSpPr>
        <p:spPr>
          <a:xfrm>
            <a:off x="2011680" y="4059936"/>
            <a:ext cx="39959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 Verify: order id and Razorpay's signature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 flipH="1">
            <a:off x="6099048" y="4983480"/>
            <a:ext cx="4142232" cy="0"/>
          </a:xfrm>
          <a:prstGeom prst="line">
            <a:avLst/>
          </a:prstGeom>
          <a:noFill/>
          <a:ln w="28575">
            <a:solidFill>
              <a:srgbClr val="0F55C8"/>
            </a:solidFill>
            <a:prstDash val="solid"/>
            <a:tailEnd type="triangle"/>
          </a:ln>
        </p:spPr>
      </p:sp>
      <p:sp>
        <p:nvSpPr>
          <p:cNvPr id="24" name="Text 22"/>
          <p:cNvSpPr txBox="1"/>
          <p:nvPr/>
        </p:nvSpPr>
        <p:spPr>
          <a:xfrm>
            <a:off x="6190488" y="4654296"/>
            <a:ext cx="39593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 Signed webhook over the raw bytes: the backup path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548640" y="5394960"/>
            <a:ext cx="5440680" cy="914400"/>
          </a:xfrm>
          <a:prstGeom prst="roundRect">
            <a:avLst>
              <a:gd name="adj" fmla="val 12000"/>
            </a:avLst>
          </a:prstGeom>
          <a:solidFill>
            <a:srgbClr val="E7F6EC"/>
          </a:solidFill>
          <a:ln w="12700">
            <a:solidFill>
              <a:srgbClr val="BFE3CB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713232" y="5394960"/>
            <a:ext cx="5120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B93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markPaid runs once</a:t>
            </a:r>
            <a:endParaRPr lang="en-US" sz="15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 becomes confirmed and paid, and the email is sent. Whichever of steps 4 and 5 arrives first wins.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6172200" y="5394960"/>
            <a:ext cx="5440680" cy="914400"/>
          </a:xfrm>
          <a:prstGeom prst="roundRect">
            <a:avLst>
              <a:gd name="adj" fmla="val 12000"/>
            </a:avLst>
          </a:prstGeom>
          <a:solidFill>
            <a:srgbClr val="FFF1E6"/>
          </a:solidFill>
          <a:ln w="12700">
            <a:solidFill>
              <a:srgbClr val="F7D9C2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336792" y="5394960"/>
            <a:ext cx="5120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26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 that never change</a:t>
            </a:r>
            <a:endParaRPr lang="en-US" sz="15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Amount from the database. Valid signature only. Demo payment is switched off once keys are set. A booking cancelled mid-payment is refunded.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48640" y="292608"/>
            <a:ext cx="11064240" cy="6858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A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design</a:t>
            </a:r>
            <a:endParaRPr lang="en-US" sz="3000" dirty="0"/>
          </a:p>
        </p:txBody>
      </p:sp>
      <p:sp>
        <p:nvSpPr>
          <p:cNvPr id="3" name="subtitle"/>
          <p:cNvSpPr txBox="1"/>
          <p:nvPr/>
        </p:nvSpPr>
        <p:spPr>
          <a:xfrm>
            <a:off x="548640" y="932688"/>
            <a:ext cx="11064240" cy="4114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request meets up to eight checks before a controller runs, and the server never trusts the browser</a:t>
            </a:r>
            <a:endParaRPr lang="en-US" sz="1600" dirty="0"/>
          </a:p>
        </p:txBody>
      </p:sp>
      <p:sp>
        <p:nvSpPr>
          <p:cNvPr id="4" name="footer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VOYARA  ·  System design</a:t>
            </a:r>
            <a:endParaRPr lang="en-US" sz="1000" dirty="0"/>
          </a:p>
        </p:txBody>
      </p:sp>
      <p:sp>
        <p:nvSpPr>
          <p:cNvPr id="5" name="page"/>
          <p:cNvSpPr txBox="1"/>
          <p:nvPr/>
        </p:nvSpPr>
        <p:spPr>
          <a:xfrm>
            <a:off x="10908792" y="6446520"/>
            <a:ext cx="73152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554480"/>
            <a:ext cx="2788920" cy="457200"/>
          </a:xfrm>
          <a:prstGeom prst="roundRect">
            <a:avLst>
              <a:gd name="adj" fmla="val 20000"/>
            </a:avLst>
          </a:prstGeom>
          <a:solidFill>
            <a:srgbClr val="EAF2FF"/>
          </a:solidFill>
          <a:ln w="12700">
            <a:solidFill>
              <a:srgbClr val="BBD3F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21792" y="1618488"/>
            <a:ext cx="329184" cy="329184"/>
          </a:xfrm>
          <a:prstGeom prst="ellipse">
            <a:avLst/>
          </a:prstGeom>
          <a:solidFill>
            <a:srgbClr val="0F55C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21792" y="161848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1024128" y="155448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A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Helmet headers and CSP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2139696"/>
            <a:ext cx="2788920" cy="457200"/>
          </a:xfrm>
          <a:prstGeom prst="roundRect">
            <a:avLst>
              <a:gd name="adj" fmla="val 20000"/>
            </a:avLst>
          </a:prstGeom>
          <a:solidFill>
            <a:srgbClr val="EAF2FF"/>
          </a:solidFill>
          <a:ln w="12700">
            <a:solidFill>
              <a:srgbClr val="BBD3F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21792" y="2203704"/>
            <a:ext cx="329184" cy="329184"/>
          </a:xfrm>
          <a:prstGeom prst="ellipse">
            <a:avLst/>
          </a:prstGeom>
          <a:solidFill>
            <a:srgbClr val="0F55C8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21792" y="220370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1024128" y="2139696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A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CORS: CLIENT_URL only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8640" y="2724912"/>
            <a:ext cx="2788920" cy="457200"/>
          </a:xfrm>
          <a:prstGeom prst="roundRect">
            <a:avLst>
              <a:gd name="adj" fmla="val 20000"/>
            </a:avLst>
          </a:prstGeom>
          <a:solidFill>
            <a:srgbClr val="EAF2FF"/>
          </a:solidFill>
          <a:ln w="12700">
            <a:solidFill>
              <a:srgbClr val="BBD3F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21792" y="2788920"/>
            <a:ext cx="329184" cy="329184"/>
          </a:xfrm>
          <a:prstGeom prst="ellipse">
            <a:avLst/>
          </a:prstGeom>
          <a:solidFill>
            <a:srgbClr val="0F55C8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21792" y="27889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1024128" y="2724912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A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Body limit 100 kb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48640" y="3310128"/>
            <a:ext cx="2788920" cy="457200"/>
          </a:xfrm>
          <a:prstGeom prst="roundRect">
            <a:avLst>
              <a:gd name="adj" fmla="val 20000"/>
            </a:avLst>
          </a:prstGeom>
          <a:solidFill>
            <a:srgbClr val="EAF2FF"/>
          </a:solidFill>
          <a:ln w="12700">
            <a:solidFill>
              <a:srgbClr val="BBD3F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21792" y="3374136"/>
            <a:ext cx="329184" cy="329184"/>
          </a:xfrm>
          <a:prstGeom prst="ellipse">
            <a:avLst/>
          </a:prstGeom>
          <a:solidFill>
            <a:srgbClr val="0F55C8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21792" y="337413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1024128" y="3310128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A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Sanitize $ and dotted keys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548640" y="3895344"/>
            <a:ext cx="2788920" cy="457200"/>
          </a:xfrm>
          <a:prstGeom prst="roundRect">
            <a:avLst>
              <a:gd name="adj" fmla="val 20000"/>
            </a:avLst>
          </a:prstGeom>
          <a:solidFill>
            <a:srgbClr val="EAF2FF"/>
          </a:solidFill>
          <a:ln w="12700">
            <a:solidFill>
              <a:srgbClr val="BBD3F5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21792" y="3959352"/>
            <a:ext cx="329184" cy="329184"/>
          </a:xfrm>
          <a:prstGeom prst="ellipse">
            <a:avLst/>
          </a:prstGeom>
          <a:solidFill>
            <a:srgbClr val="0F55C8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621792" y="395935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1024128" y="3895344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A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limits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548640" y="4480560"/>
            <a:ext cx="2788920" cy="457200"/>
          </a:xfrm>
          <a:prstGeom prst="roundRect">
            <a:avLst>
              <a:gd name="adj" fmla="val 20000"/>
            </a:avLst>
          </a:prstGeom>
          <a:solidFill>
            <a:srgbClr val="0A2A5E"/>
          </a:solidFill>
          <a:ln w="12700">
            <a:solidFill>
              <a:srgbClr val="0A2A5E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21792" y="4544568"/>
            <a:ext cx="329184" cy="329184"/>
          </a:xfrm>
          <a:prstGeom prst="ellipse">
            <a:avLst/>
          </a:prstGeom>
          <a:solidFill>
            <a:srgbClr val="FFD24D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621792" y="454456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1024128" y="44805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check (protect)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548640" y="5065776"/>
            <a:ext cx="2788920" cy="457200"/>
          </a:xfrm>
          <a:prstGeom prst="roundRect">
            <a:avLst>
              <a:gd name="adj" fmla="val 20000"/>
            </a:avLst>
          </a:prstGeom>
          <a:solidFill>
            <a:srgbClr val="0A2A5E"/>
          </a:solidFill>
          <a:ln w="12700">
            <a:solidFill>
              <a:srgbClr val="0A2A5E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21792" y="5129784"/>
            <a:ext cx="329184" cy="329184"/>
          </a:xfrm>
          <a:prstGeom prst="ellipse">
            <a:avLst/>
          </a:prstGeom>
          <a:solidFill>
            <a:srgbClr val="FFD24D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621792" y="512978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200" dirty="0"/>
          </a:p>
        </p:txBody>
      </p:sp>
      <p:sp>
        <p:nvSpPr>
          <p:cNvPr id="33" name="Text 31"/>
          <p:cNvSpPr txBox="1"/>
          <p:nvPr/>
        </p:nvSpPr>
        <p:spPr>
          <a:xfrm>
            <a:off x="1024128" y="5065776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check (adminOnly)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548640" y="5650992"/>
            <a:ext cx="2788920" cy="457200"/>
          </a:xfrm>
          <a:prstGeom prst="roundRect">
            <a:avLst>
              <a:gd name="adj" fmla="val 20000"/>
            </a:avLst>
          </a:prstGeom>
          <a:solidFill>
            <a:srgbClr val="EAF2FF"/>
          </a:solidFill>
          <a:ln w="12700">
            <a:solidFill>
              <a:srgbClr val="BBD3F5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21792" y="5715000"/>
            <a:ext cx="329184" cy="329184"/>
          </a:xfrm>
          <a:prstGeom prst="ellipse">
            <a:avLst/>
          </a:prstGeom>
          <a:solidFill>
            <a:srgbClr val="0F55C8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621792" y="57150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200" dirty="0"/>
          </a:p>
        </p:txBody>
      </p:sp>
      <p:sp>
        <p:nvSpPr>
          <p:cNvPr id="37" name="Text 35"/>
          <p:cNvSpPr txBox="1"/>
          <p:nvPr/>
        </p:nvSpPr>
        <p:spPr>
          <a:xfrm>
            <a:off x="1024128" y="5650992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A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Controller type checks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3611880" y="1554480"/>
            <a:ext cx="3931920" cy="1097280"/>
          </a:xfrm>
          <a:prstGeom prst="roundRect">
            <a:avLst>
              <a:gd name="adj" fmla="val 11667"/>
            </a:avLst>
          </a:prstGeom>
          <a:solidFill>
            <a:srgbClr val="FFFFFF"/>
          </a:solidFill>
          <a:ln w="12700">
            <a:solidFill>
              <a:srgbClr val="D5E1F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39" name="Text 37"/>
          <p:cNvSpPr txBox="1"/>
          <p:nvPr/>
        </p:nvSpPr>
        <p:spPr>
          <a:xfrm>
            <a:off x="3749040" y="166420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A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Stolen or guessed passwords</a:t>
            </a:r>
            <a:endParaRPr lang="en-US" sz="1400" dirty="0"/>
          </a:p>
        </p:txBody>
      </p:sp>
      <p:sp>
        <p:nvSpPr>
          <p:cNvPr id="40" name="Text 38"/>
          <p:cNvSpPr txBox="1"/>
          <p:nvPr/>
        </p:nvSpPr>
        <p:spPr>
          <a:xfrm>
            <a:off x="3749040" y="1956816"/>
            <a:ext cx="365760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bcrypt (cost 12), 8+ characters with a letter and a number, 20 wrong tries per 15 minutes</a:t>
            </a:r>
            <a:endParaRPr lang="en-US" sz="1300" dirty="0"/>
          </a:p>
        </p:txBody>
      </p:sp>
      <p:sp>
        <p:nvSpPr>
          <p:cNvPr id="41" name="Shape 39"/>
          <p:cNvSpPr/>
          <p:nvPr/>
        </p:nvSpPr>
        <p:spPr>
          <a:xfrm>
            <a:off x="7680960" y="1554480"/>
            <a:ext cx="3931920" cy="1097280"/>
          </a:xfrm>
          <a:prstGeom prst="roundRect">
            <a:avLst>
              <a:gd name="adj" fmla="val 11667"/>
            </a:avLst>
          </a:prstGeom>
          <a:solidFill>
            <a:srgbClr val="FFFFFF"/>
          </a:solidFill>
          <a:ln w="12700">
            <a:solidFill>
              <a:srgbClr val="D5E1F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42" name="Text 40"/>
          <p:cNvSpPr txBox="1"/>
          <p:nvPr/>
        </p:nvSpPr>
        <p:spPr>
          <a:xfrm>
            <a:off x="7818120" y="166420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A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Forged login tokens</a:t>
            </a:r>
            <a:endParaRPr lang="en-US" sz="1400" dirty="0"/>
          </a:p>
        </p:txBody>
      </p:sp>
      <p:sp>
        <p:nvSpPr>
          <p:cNvPr id="43" name="Text 41"/>
          <p:cNvSpPr txBox="1"/>
          <p:nvPr/>
        </p:nvSpPr>
        <p:spPr>
          <a:xfrm>
            <a:off x="7818120" y="1956816"/>
            <a:ext cx="365760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Signed with JWT_SECRET. Production refuses to start with a weak secret (under 32 characters)</a:t>
            </a:r>
            <a:endParaRPr lang="en-US" sz="1300" dirty="0"/>
          </a:p>
        </p:txBody>
      </p:sp>
      <p:sp>
        <p:nvSpPr>
          <p:cNvPr id="44" name="Shape 42"/>
          <p:cNvSpPr/>
          <p:nvPr/>
        </p:nvSpPr>
        <p:spPr>
          <a:xfrm>
            <a:off x="3611880" y="2761488"/>
            <a:ext cx="3931920" cy="1097280"/>
          </a:xfrm>
          <a:prstGeom prst="roundRect">
            <a:avLst>
              <a:gd name="adj" fmla="val 11667"/>
            </a:avLst>
          </a:prstGeom>
          <a:solidFill>
            <a:srgbClr val="FFFFFF"/>
          </a:solidFill>
          <a:ln w="12700">
            <a:solidFill>
              <a:srgbClr val="D5E1F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45" name="Text 43"/>
          <p:cNvSpPr txBox="1"/>
          <p:nvPr/>
        </p:nvSpPr>
        <p:spPr>
          <a:xfrm>
            <a:off x="3749040" y="287121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A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NoSQL injection</a:t>
            </a:r>
            <a:endParaRPr lang="en-US" sz="1400" dirty="0"/>
          </a:p>
        </p:txBody>
      </p:sp>
      <p:sp>
        <p:nvSpPr>
          <p:cNvPr id="46" name="Text 44"/>
          <p:cNvSpPr txBox="1"/>
          <p:nvPr/>
        </p:nvSpPr>
        <p:spPr>
          <a:xfrm>
            <a:off x="3749040" y="3163824"/>
            <a:ext cx="365760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Keys starting with $ or containing a dot are dropped from bodies and queries, and types are checked</a:t>
            </a:r>
            <a:endParaRPr lang="en-US" sz="1300" dirty="0"/>
          </a:p>
        </p:txBody>
      </p:sp>
      <p:sp>
        <p:nvSpPr>
          <p:cNvPr id="47" name="Shape 45"/>
          <p:cNvSpPr/>
          <p:nvPr/>
        </p:nvSpPr>
        <p:spPr>
          <a:xfrm>
            <a:off x="7680960" y="2761488"/>
            <a:ext cx="3931920" cy="1097280"/>
          </a:xfrm>
          <a:prstGeom prst="roundRect">
            <a:avLst>
              <a:gd name="adj" fmla="val 11667"/>
            </a:avLst>
          </a:prstGeom>
          <a:solidFill>
            <a:srgbClr val="FFFFFF"/>
          </a:solidFill>
          <a:ln w="12700">
            <a:solidFill>
              <a:srgbClr val="D5E1F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48" name="Text 46"/>
          <p:cNvSpPr txBox="1"/>
          <p:nvPr/>
        </p:nvSpPr>
        <p:spPr>
          <a:xfrm>
            <a:off x="7818120" y="287121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A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tampering</a:t>
            </a:r>
            <a:endParaRPr lang="en-US" sz="1400" dirty="0"/>
          </a:p>
        </p:txBody>
      </p:sp>
      <p:sp>
        <p:nvSpPr>
          <p:cNvPr id="49" name="Text 47"/>
          <p:cNvSpPr txBox="1"/>
          <p:nvPr/>
        </p:nvSpPr>
        <p:spPr>
          <a:xfrm>
            <a:off x="7818120" y="3163824"/>
            <a:ext cx="365760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browser never sends a price: the server re-prices every booking</a:t>
            </a:r>
            <a:endParaRPr lang="en-US" sz="1300" dirty="0"/>
          </a:p>
        </p:txBody>
      </p:sp>
      <p:sp>
        <p:nvSpPr>
          <p:cNvPr id="50" name="Shape 48"/>
          <p:cNvSpPr/>
          <p:nvPr/>
        </p:nvSpPr>
        <p:spPr>
          <a:xfrm>
            <a:off x="3611880" y="3968496"/>
            <a:ext cx="3931920" cy="1097280"/>
          </a:xfrm>
          <a:prstGeom prst="roundRect">
            <a:avLst>
              <a:gd name="adj" fmla="val 11667"/>
            </a:avLst>
          </a:prstGeom>
          <a:solidFill>
            <a:srgbClr val="FFFFFF"/>
          </a:solidFill>
          <a:ln w="12700">
            <a:solidFill>
              <a:srgbClr val="D5E1F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1" name="Text 49"/>
          <p:cNvSpPr txBox="1"/>
          <p:nvPr/>
        </p:nvSpPr>
        <p:spPr>
          <a:xfrm>
            <a:off x="3749040" y="407822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A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someone else's trip</a:t>
            </a:r>
            <a:endParaRPr lang="en-US" sz="1400" dirty="0"/>
          </a:p>
        </p:txBody>
      </p:sp>
      <p:sp>
        <p:nvSpPr>
          <p:cNvPr id="52" name="Text 50"/>
          <p:cNvSpPr txBox="1"/>
          <p:nvPr/>
        </p:nvSpPr>
        <p:spPr>
          <a:xfrm>
            <a:off x="3749040" y="4370832"/>
            <a:ext cx="365760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booking query filters by the logged-in user's id</a:t>
            </a:r>
            <a:endParaRPr lang="en-US" sz="1300" dirty="0"/>
          </a:p>
        </p:txBody>
      </p:sp>
      <p:sp>
        <p:nvSpPr>
          <p:cNvPr id="53" name="Shape 51"/>
          <p:cNvSpPr/>
          <p:nvPr/>
        </p:nvSpPr>
        <p:spPr>
          <a:xfrm>
            <a:off x="7680960" y="3968496"/>
            <a:ext cx="3931920" cy="1097280"/>
          </a:xfrm>
          <a:prstGeom prst="roundRect">
            <a:avLst>
              <a:gd name="adj" fmla="val 11667"/>
            </a:avLst>
          </a:prstGeom>
          <a:solidFill>
            <a:srgbClr val="FFFFFF"/>
          </a:solidFill>
          <a:ln w="12700">
            <a:solidFill>
              <a:srgbClr val="D5E1F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4" name="Text 52"/>
          <p:cNvSpPr txBox="1"/>
          <p:nvPr/>
        </p:nvSpPr>
        <p:spPr>
          <a:xfrm>
            <a:off x="7818120" y="407822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A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pages and uploads</a:t>
            </a:r>
            <a:endParaRPr lang="en-US" sz="1400" dirty="0"/>
          </a:p>
        </p:txBody>
      </p:sp>
      <p:sp>
        <p:nvSpPr>
          <p:cNvPr id="55" name="Text 53"/>
          <p:cNvSpPr txBox="1"/>
          <p:nvPr/>
        </p:nvSpPr>
        <p:spPr>
          <a:xfrm>
            <a:off x="7818120" y="4370832"/>
            <a:ext cx="365760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adminOnly re-reads the role from the database. Uploads need login and admin; photos are checked by their real bytes</a:t>
            </a:r>
            <a:endParaRPr lang="en-US" sz="1300" dirty="0"/>
          </a:p>
        </p:txBody>
      </p:sp>
      <p:sp>
        <p:nvSpPr>
          <p:cNvPr id="56" name="Shape 54"/>
          <p:cNvSpPr/>
          <p:nvPr/>
        </p:nvSpPr>
        <p:spPr>
          <a:xfrm>
            <a:off x="3611880" y="5175504"/>
            <a:ext cx="3931920" cy="1097280"/>
          </a:xfrm>
          <a:prstGeom prst="roundRect">
            <a:avLst>
              <a:gd name="adj" fmla="val 11667"/>
            </a:avLst>
          </a:prstGeom>
          <a:solidFill>
            <a:srgbClr val="FFFFFF"/>
          </a:solidFill>
          <a:ln w="12700">
            <a:solidFill>
              <a:srgbClr val="D5E1F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7" name="Text 55"/>
          <p:cNvSpPr txBox="1"/>
          <p:nvPr/>
        </p:nvSpPr>
        <p:spPr>
          <a:xfrm>
            <a:off x="3749040" y="528523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A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Floods and scraping</a:t>
            </a:r>
            <a:endParaRPr lang="en-US" sz="1400" dirty="0"/>
          </a:p>
        </p:txBody>
      </p:sp>
      <p:sp>
        <p:nvSpPr>
          <p:cNvPr id="58" name="Text 56"/>
          <p:cNvSpPr txBox="1"/>
          <p:nvPr/>
        </p:nvSpPr>
        <p:spPr>
          <a:xfrm>
            <a:off x="3749040" y="5577840"/>
            <a:ext cx="365760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Limits: API 1500 per 15 min, search 90 per min, booking 60 per 15 min, contact 5 per 15 min</a:t>
            </a:r>
            <a:endParaRPr lang="en-US" sz="1300" dirty="0"/>
          </a:p>
        </p:txBody>
      </p:sp>
      <p:sp>
        <p:nvSpPr>
          <p:cNvPr id="59" name="Shape 57"/>
          <p:cNvSpPr/>
          <p:nvPr/>
        </p:nvSpPr>
        <p:spPr>
          <a:xfrm>
            <a:off x="7680960" y="5175504"/>
            <a:ext cx="3931920" cy="1097280"/>
          </a:xfrm>
          <a:prstGeom prst="roundRect">
            <a:avLst>
              <a:gd name="adj" fmla="val 11667"/>
            </a:avLst>
          </a:prstGeom>
          <a:solidFill>
            <a:srgbClr val="FFFFFF"/>
          </a:solidFill>
          <a:ln w="12700">
            <a:solidFill>
              <a:srgbClr val="D5E1F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60" name="Text 58"/>
          <p:cNvSpPr txBox="1"/>
          <p:nvPr/>
        </p:nvSpPr>
        <p:spPr>
          <a:xfrm>
            <a:off x="7818120" y="528523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A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Leaking details</a:t>
            </a:r>
            <a:endParaRPr lang="en-US" sz="1400" dirty="0"/>
          </a:p>
        </p:txBody>
      </p:sp>
      <p:sp>
        <p:nvSpPr>
          <p:cNvPr id="61" name="Text 59"/>
          <p:cNvSpPr txBox="1"/>
          <p:nvPr/>
        </p:nvSpPr>
        <p:spPr>
          <a:xfrm>
            <a:off x="7818120" y="5577840"/>
            <a:ext cx="365760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Generic errors in production, a health check without database details, keys only in server/.env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48640" y="292608"/>
            <a:ext cx="11064240" cy="6858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A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Outside services and what happens when they fail</a:t>
            </a:r>
            <a:endParaRPr lang="en-US" sz="3000" dirty="0"/>
          </a:p>
        </p:txBody>
      </p:sp>
      <p:sp>
        <p:nvSpPr>
          <p:cNvPr id="3" name="subtitle"/>
          <p:cNvSpPr txBox="1"/>
          <p:nvPr/>
        </p:nvSpPr>
        <p:spPr>
          <a:xfrm>
            <a:off x="548640" y="932688"/>
            <a:ext cx="11064240" cy="4114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outside data is a helper, never a dependency</a:t>
            </a:r>
            <a:endParaRPr lang="en-US" sz="1600" dirty="0"/>
          </a:p>
        </p:txBody>
      </p:sp>
      <p:sp>
        <p:nvSpPr>
          <p:cNvPr id="4" name="footer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VOYARA  ·  System design</a:t>
            </a:r>
            <a:endParaRPr lang="en-US" sz="1000" dirty="0"/>
          </a:p>
        </p:txBody>
      </p:sp>
      <p:sp>
        <p:nvSpPr>
          <p:cNvPr id="5" name="page"/>
          <p:cNvSpPr txBox="1"/>
          <p:nvPr/>
        </p:nvSpPr>
        <p:spPr>
          <a:xfrm>
            <a:off x="10908792" y="6446520"/>
            <a:ext cx="73152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554480"/>
            <a:ext cx="2423160" cy="457200"/>
          </a:xfrm>
          <a:prstGeom prst="roundRect">
            <a:avLst>
              <a:gd name="adj" fmla="val 16000"/>
            </a:avLst>
          </a:prstGeom>
          <a:solidFill>
            <a:srgbClr val="0A2A5E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58368" y="155448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3063240" y="1554480"/>
            <a:ext cx="4206240" cy="457200"/>
          </a:xfrm>
          <a:prstGeom prst="roundRect">
            <a:avLst>
              <a:gd name="adj" fmla="val 16000"/>
            </a:avLst>
          </a:prstGeom>
          <a:solidFill>
            <a:srgbClr val="0A2A5E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3172968" y="1554480"/>
            <a:ext cx="3977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for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7360920" y="1554480"/>
            <a:ext cx="4206240" cy="457200"/>
          </a:xfrm>
          <a:prstGeom prst="roundRect">
            <a:avLst>
              <a:gd name="adj" fmla="val 16000"/>
            </a:avLst>
          </a:prstGeom>
          <a:solidFill>
            <a:srgbClr val="0A2A5E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470648" y="1554480"/>
            <a:ext cx="3977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it fails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48640" y="2084832"/>
            <a:ext cx="11064240" cy="512064"/>
          </a:xfrm>
          <a:prstGeom prst="roundRect">
            <a:avLst>
              <a:gd name="adj" fmla="val 10714"/>
            </a:avLst>
          </a:prstGeom>
          <a:solidFill>
            <a:srgbClr val="F4F7FC"/>
          </a:solidFill>
          <a:ln w="12700">
            <a:solidFill>
              <a:srgbClr val="D5E1F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58368" y="2084832"/>
            <a:ext cx="21945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A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Geoapify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3172968" y="2084832"/>
            <a:ext cx="3977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City search, tourist places, hotels, restaurants (OpenStreetMap data)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7470648" y="2084832"/>
            <a:ext cx="3977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Curated places and saved stays still work; thin results are not cached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2651760"/>
            <a:ext cx="11064240" cy="512064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12700">
            <a:solidFill>
              <a:srgbClr val="D5E1F2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58368" y="2651760"/>
            <a:ext cx="21945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A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Pexels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3172968" y="2651760"/>
            <a:ext cx="3977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photos for hotels and places without their own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7470648" y="2651760"/>
            <a:ext cx="3977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Skipped, a placeholder is shown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48640" y="3218688"/>
            <a:ext cx="11064240" cy="512064"/>
          </a:xfrm>
          <a:prstGeom prst="roundRect">
            <a:avLst>
              <a:gd name="adj" fmla="val 10714"/>
            </a:avLst>
          </a:prstGeom>
          <a:solidFill>
            <a:srgbClr val="F4F7FC"/>
          </a:solidFill>
          <a:ln w="12700">
            <a:solidFill>
              <a:srgbClr val="D5E1F2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58368" y="3218688"/>
            <a:ext cx="21945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A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Wikipedia and Wikimedia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3172968" y="3218688"/>
            <a:ext cx="3977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 photos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7470648" y="3218688"/>
            <a:ext cx="3977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Back-off on 429 and a time budget per lookup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48640" y="3785616"/>
            <a:ext cx="11064240" cy="512064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12700">
            <a:solidFill>
              <a:srgbClr val="D5E1F2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58368" y="3785616"/>
            <a:ext cx="21945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A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Cloudinary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3172968" y="3785616"/>
            <a:ext cx="3977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Stores and serves state, place, hero and review photos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7470648" y="3785616"/>
            <a:ext cx="3977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Fallback images in server/fallback-images/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548640" y="4352544"/>
            <a:ext cx="11064240" cy="512064"/>
          </a:xfrm>
          <a:prstGeom prst="roundRect">
            <a:avLst>
              <a:gd name="adj" fmla="val 10714"/>
            </a:avLst>
          </a:prstGeom>
          <a:solidFill>
            <a:srgbClr val="F4F7FC"/>
          </a:solidFill>
          <a:ln w="12700">
            <a:solidFill>
              <a:srgbClr val="D5E1F2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58368" y="4352544"/>
            <a:ext cx="21945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A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Razorpay</a:t>
            </a:r>
            <a:endParaRPr lang="en-US" sz="1400" dirty="0"/>
          </a:p>
        </p:txBody>
      </p:sp>
      <p:sp>
        <p:nvSpPr>
          <p:cNvPr id="30" name="Text 28"/>
          <p:cNvSpPr txBox="1"/>
          <p:nvPr/>
        </p:nvSpPr>
        <p:spPr>
          <a:xfrm>
            <a:off x="3172968" y="4352544"/>
            <a:ext cx="3977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payment, refunds and the webhook</a:t>
            </a:r>
            <a:endParaRPr lang="en-US" sz="1300" dirty="0"/>
          </a:p>
        </p:txBody>
      </p:sp>
      <p:sp>
        <p:nvSpPr>
          <p:cNvPr id="31" name="Text 29"/>
          <p:cNvSpPr txBox="1"/>
          <p:nvPr/>
        </p:nvSpPr>
        <p:spPr>
          <a:xfrm>
            <a:off x="7470648" y="4352544"/>
            <a:ext cx="3977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checkout runs when no keys are set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548640" y="4919472"/>
            <a:ext cx="11064240" cy="512064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12700">
            <a:solidFill>
              <a:srgbClr val="D5E1F2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658368" y="4919472"/>
            <a:ext cx="21945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A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SMTP (nodemailer)</a:t>
            </a:r>
            <a:endParaRPr lang="en-US" sz="1400" dirty="0"/>
          </a:p>
        </p:txBody>
      </p:sp>
      <p:sp>
        <p:nvSpPr>
          <p:cNvPr id="34" name="Text 32"/>
          <p:cNvSpPr txBox="1"/>
          <p:nvPr/>
        </p:nvSpPr>
        <p:spPr>
          <a:xfrm>
            <a:off x="3172968" y="4919472"/>
            <a:ext cx="3977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 and payment emails</a:t>
            </a:r>
            <a:endParaRPr lang="en-US" sz="1300" dirty="0"/>
          </a:p>
        </p:txBody>
      </p:sp>
      <p:sp>
        <p:nvSpPr>
          <p:cNvPr id="35" name="Text 33"/>
          <p:cNvSpPr txBox="1"/>
          <p:nvPr/>
        </p:nvSpPr>
        <p:spPr>
          <a:xfrm>
            <a:off x="7470648" y="4919472"/>
            <a:ext cx="3977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 without SMTP_HOST; sent inside the API process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548640" y="5486400"/>
            <a:ext cx="11064240" cy="512064"/>
          </a:xfrm>
          <a:prstGeom prst="roundRect">
            <a:avLst>
              <a:gd name="adj" fmla="val 10714"/>
            </a:avLst>
          </a:prstGeom>
          <a:solidFill>
            <a:srgbClr val="F4F7FC"/>
          </a:solidFill>
          <a:ln w="12700">
            <a:solidFill>
              <a:srgbClr val="D5E1F2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658368" y="5486400"/>
            <a:ext cx="21945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A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 Claude</a:t>
            </a:r>
            <a:endParaRPr lang="en-US" sz="1400" dirty="0"/>
          </a:p>
        </p:txBody>
      </p:sp>
      <p:sp>
        <p:nvSpPr>
          <p:cNvPr id="38" name="Text 36"/>
          <p:cNvSpPr txBox="1"/>
          <p:nvPr/>
        </p:nvSpPr>
        <p:spPr>
          <a:xfrm>
            <a:off x="3172968" y="5486400"/>
            <a:ext cx="3977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 wording for assistant replies</a:t>
            </a:r>
            <a:endParaRPr lang="en-US" sz="1300" dirty="0"/>
          </a:p>
        </p:txBody>
      </p:sp>
      <p:sp>
        <p:nvSpPr>
          <p:cNvPr id="39" name="Text 37"/>
          <p:cNvSpPr txBox="1"/>
          <p:nvPr/>
        </p:nvSpPr>
        <p:spPr>
          <a:xfrm>
            <a:off x="7470648" y="5486400"/>
            <a:ext cx="3977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rule-based assistant answers instead</a:t>
            </a:r>
            <a:endParaRPr lang="en-US" sz="1300" dirty="0"/>
          </a:p>
        </p:txBody>
      </p:sp>
      <p:sp>
        <p:nvSpPr>
          <p:cNvPr id="40" name="Text 38"/>
          <p:cNvSpPr txBox="1"/>
          <p:nvPr/>
        </p:nvSpPr>
        <p:spPr>
          <a:xfrm>
            <a:off x="548640" y="608076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Caches and budgets: place results are cached for 1 hour in memory, and photo lookups have time budgets so one slow service cannot freeze a page.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48640" y="292608"/>
            <a:ext cx="11064240" cy="6858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A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</a:t>
            </a:r>
            <a:endParaRPr lang="en-US" sz="3000" dirty="0"/>
          </a:p>
        </p:txBody>
      </p:sp>
      <p:sp>
        <p:nvSpPr>
          <p:cNvPr id="3" name="subtitle"/>
          <p:cNvSpPr txBox="1"/>
          <p:nvPr/>
        </p:nvSpPr>
        <p:spPr>
          <a:xfrm>
            <a:off x="548640" y="932688"/>
            <a:ext cx="11064240" cy="4114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Node process serves the API and the website; the data lives in MongoDB Atlas</a:t>
            </a:r>
            <a:endParaRPr lang="en-US" sz="1600" dirty="0"/>
          </a:p>
        </p:txBody>
      </p:sp>
      <p:sp>
        <p:nvSpPr>
          <p:cNvPr id="4" name="footer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VOYARA  ·  System design</a:t>
            </a:r>
            <a:endParaRPr lang="en-US" sz="1000" dirty="0"/>
          </a:p>
        </p:txBody>
      </p:sp>
      <p:sp>
        <p:nvSpPr>
          <p:cNvPr id="5" name="page"/>
          <p:cNvSpPr txBox="1"/>
          <p:nvPr/>
        </p:nvSpPr>
        <p:spPr>
          <a:xfrm>
            <a:off x="10908792" y="6446520"/>
            <a:ext cx="73152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600200"/>
            <a:ext cx="2377440" cy="1325880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 w="12700">
            <a:solidFill>
              <a:srgbClr val="D5E1F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685800" y="169164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A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2103120"/>
            <a:ext cx="2103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push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926080" y="2263140"/>
            <a:ext cx="502920" cy="0"/>
          </a:xfrm>
          <a:prstGeom prst="line">
            <a:avLst/>
          </a:prstGeom>
          <a:noFill/>
          <a:ln w="28575">
            <a:solidFill>
              <a:srgbClr val="0F55C8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3429000" y="1600200"/>
            <a:ext cx="2377440" cy="1325880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 w="12700">
            <a:solidFill>
              <a:srgbClr val="D5E1F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3566160" y="169164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A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3566160" y="2103120"/>
            <a:ext cx="2103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repository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806440" y="2263140"/>
            <a:ext cx="502920" cy="0"/>
          </a:xfrm>
          <a:prstGeom prst="line">
            <a:avLst/>
          </a:prstGeom>
          <a:noFill/>
          <a:ln w="28575">
            <a:solidFill>
              <a:srgbClr val="0F55C8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6309360" y="1600200"/>
            <a:ext cx="2377440" cy="1325880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 w="12700">
            <a:solidFill>
              <a:srgbClr val="D5E1F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6446520" y="169164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A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 builds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6446520" y="2103120"/>
            <a:ext cx="2103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npm run install:all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npm run build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8686800" y="2263140"/>
            <a:ext cx="502920" cy="0"/>
          </a:xfrm>
          <a:prstGeom prst="line">
            <a:avLst/>
          </a:prstGeom>
          <a:noFill/>
          <a:ln w="28575">
            <a:solidFill>
              <a:srgbClr val="0F55C8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9189720" y="1600200"/>
            <a:ext cx="2377440" cy="1325880"/>
          </a:xfrm>
          <a:prstGeom prst="roundRect">
            <a:avLst>
              <a:gd name="adj" fmla="val 8276"/>
            </a:avLst>
          </a:prstGeom>
          <a:solidFill>
            <a:srgbClr val="0A2A5E"/>
          </a:solidFill>
          <a:ln w="12700">
            <a:solidFill>
              <a:srgbClr val="0A2A5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 txBox="1"/>
          <p:nvPr/>
        </p:nvSpPr>
        <p:spPr>
          <a:xfrm>
            <a:off x="9326880" y="169164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npm start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9326880" y="2103120"/>
            <a:ext cx="2103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Node process: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/api and client/dist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10378440" y="2926080"/>
            <a:ext cx="0" cy="365760"/>
          </a:xfrm>
          <a:prstGeom prst="line">
            <a:avLst/>
          </a:prstGeom>
          <a:noFill/>
          <a:ln w="28575">
            <a:solidFill>
              <a:srgbClr val="0F55C8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9189720" y="3291840"/>
            <a:ext cx="2377440" cy="960120"/>
          </a:xfrm>
          <a:prstGeom prst="roundRect">
            <a:avLst>
              <a:gd name="adj" fmla="val 11429"/>
            </a:avLst>
          </a:prstGeom>
          <a:solidFill>
            <a:srgbClr val="0F55C8"/>
          </a:solidFill>
          <a:ln w="12700">
            <a:solidFill>
              <a:srgbClr val="0F55C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 txBox="1"/>
          <p:nvPr/>
        </p:nvSpPr>
        <p:spPr>
          <a:xfrm>
            <a:off x="9326880" y="3291840"/>
            <a:ext cx="2103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 Atlas</a:t>
            </a:r>
            <a:endParaRPr lang="en-US" sz="16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EA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MONGO_URI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548640" y="3291840"/>
            <a:ext cx="8366760" cy="96012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D5E1F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 txBox="1"/>
          <p:nvPr/>
        </p:nvSpPr>
        <p:spPr>
          <a:xfrm>
            <a:off x="694944" y="3408883"/>
            <a:ext cx="80741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A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check and the split option</a:t>
            </a:r>
            <a:endParaRPr lang="en-US" sz="1500" dirty="0"/>
          </a:p>
        </p:txBody>
      </p:sp>
      <p:sp>
        <p:nvSpPr>
          <p:cNvPr id="26" name="Text 24"/>
          <p:cNvSpPr txBox="1"/>
          <p:nvPr/>
        </p:nvSpPr>
        <p:spPr>
          <a:xfrm>
            <a:off x="694944" y="3738067"/>
            <a:ext cx="8074152" cy="4261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 calls GET /api/health (503 when the database is down). Or host the website on Vercel (client/vercel.json) and the API on Render, with CLIENT_URL set for CORS.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548640" y="44348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A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Settings (secrets stay in the host, never in the repository)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548640" y="4846320"/>
            <a:ext cx="3611880" cy="1463040"/>
          </a:xfrm>
          <a:prstGeom prst="roundRect">
            <a:avLst>
              <a:gd name="adj" fmla="val 7500"/>
            </a:avLst>
          </a:prstGeom>
          <a:solidFill>
            <a:srgbClr val="FDECEC"/>
          </a:solidFill>
          <a:ln w="12700">
            <a:solidFill>
              <a:srgbClr val="D5E1F2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85800" y="4901184"/>
            <a:ext cx="3337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C42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</a:t>
            </a:r>
            <a:endParaRPr lang="en-US" sz="1400" dirty="0"/>
          </a:p>
        </p:txBody>
      </p:sp>
      <p:sp>
        <p:nvSpPr>
          <p:cNvPr id="30" name="Text 28"/>
          <p:cNvSpPr txBox="1"/>
          <p:nvPr/>
        </p:nvSpPr>
        <p:spPr>
          <a:xfrm>
            <a:off x="685800" y="5248656"/>
            <a:ext cx="333756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MONGO_URI</a:t>
            </a:r>
            <a:endParaRPr lang="en-US" sz="12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JWT_SECRET, 32 characters or more in production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4297680" y="4846320"/>
            <a:ext cx="3611880" cy="1463040"/>
          </a:xfrm>
          <a:prstGeom prst="roundRect">
            <a:avLst>
              <a:gd name="adj" fmla="val 7500"/>
            </a:avLst>
          </a:prstGeom>
          <a:solidFill>
            <a:srgbClr val="EAF2FF"/>
          </a:solidFill>
          <a:ln w="12700">
            <a:solidFill>
              <a:srgbClr val="D5E1F2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4434840" y="4901184"/>
            <a:ext cx="3337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F5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</a:t>
            </a:r>
            <a:endParaRPr lang="en-US" sz="1400" dirty="0"/>
          </a:p>
        </p:txBody>
      </p:sp>
      <p:sp>
        <p:nvSpPr>
          <p:cNvPr id="33" name="Text 31"/>
          <p:cNvSpPr txBox="1"/>
          <p:nvPr/>
        </p:nvSpPr>
        <p:spPr>
          <a:xfrm>
            <a:off x="4434840" y="5248656"/>
            <a:ext cx="333756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GEOAPIFY_API_KEY</a:t>
            </a:r>
            <a:endParaRPr lang="en-US" sz="12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CLOUDINARY_CLOUD_NAME, _API_KEY, _API_SECRET</a:t>
            </a:r>
            <a:endParaRPr lang="en-US" sz="12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PEXELS_API_KEY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8046720" y="4846320"/>
            <a:ext cx="3611880" cy="1463040"/>
          </a:xfrm>
          <a:prstGeom prst="roundRect">
            <a:avLst>
              <a:gd name="adj" fmla="val 7500"/>
            </a:avLst>
          </a:prstGeom>
          <a:solidFill>
            <a:srgbClr val="F4F7FC"/>
          </a:solidFill>
          <a:ln w="12700">
            <a:solidFill>
              <a:srgbClr val="D5E1F2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8183880" y="4901184"/>
            <a:ext cx="3337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</a:t>
            </a:r>
            <a:endParaRPr lang="en-US" sz="1400" dirty="0"/>
          </a:p>
        </p:txBody>
      </p:sp>
      <p:sp>
        <p:nvSpPr>
          <p:cNvPr id="36" name="Text 34"/>
          <p:cNvSpPr txBox="1"/>
          <p:nvPr/>
        </p:nvSpPr>
        <p:spPr>
          <a:xfrm>
            <a:off x="8183880" y="5248656"/>
            <a:ext cx="333756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CLIENT_URL, SMTP_*, RAZORPAY_KEY_ID, _KEY_SECRET, _WEBHOOK_SECRET, ANTHROPIC_API_KEY, RATE_LIMIT=on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48640" y="292608"/>
            <a:ext cx="11064240" cy="6858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A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Trade-offs and what changes at larger scale</a:t>
            </a:r>
            <a:endParaRPr lang="en-US" sz="3000" dirty="0"/>
          </a:p>
        </p:txBody>
      </p:sp>
      <p:sp>
        <p:nvSpPr>
          <p:cNvPr id="3" name="subtitle"/>
          <p:cNvSpPr txBox="1"/>
          <p:nvPr/>
        </p:nvSpPr>
        <p:spPr>
          <a:xfrm>
            <a:off x="548640" y="932688"/>
            <a:ext cx="11064240" cy="4114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choices that fit a demo-scale product, each with a planned next step</a:t>
            </a:r>
            <a:endParaRPr lang="en-US" sz="1600" dirty="0"/>
          </a:p>
        </p:txBody>
      </p:sp>
      <p:sp>
        <p:nvSpPr>
          <p:cNvPr id="4" name="footer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VOYARA  ·  System design</a:t>
            </a:r>
            <a:endParaRPr lang="en-US" sz="1000" dirty="0"/>
          </a:p>
        </p:txBody>
      </p:sp>
      <p:sp>
        <p:nvSpPr>
          <p:cNvPr id="5" name="page"/>
          <p:cNvSpPr txBox="1"/>
          <p:nvPr/>
        </p:nvSpPr>
        <p:spPr>
          <a:xfrm>
            <a:off x="10908792" y="6446520"/>
            <a:ext cx="73152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554480"/>
            <a:ext cx="3520440" cy="457200"/>
          </a:xfrm>
          <a:prstGeom prst="roundRect">
            <a:avLst>
              <a:gd name="adj" fmla="val 16000"/>
            </a:avLst>
          </a:prstGeom>
          <a:solidFill>
            <a:srgbClr val="0A2A5E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58368" y="155448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160520" y="1554480"/>
            <a:ext cx="3383280" cy="457200"/>
          </a:xfrm>
          <a:prstGeom prst="roundRect">
            <a:avLst>
              <a:gd name="adj" fmla="val 16000"/>
            </a:avLst>
          </a:prstGeom>
          <a:solidFill>
            <a:srgbClr val="0A2A5E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4270248" y="155448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7635240" y="1554480"/>
            <a:ext cx="3931920" cy="457200"/>
          </a:xfrm>
          <a:prstGeom prst="roundRect">
            <a:avLst>
              <a:gd name="adj" fmla="val 16000"/>
            </a:avLst>
          </a:prstGeom>
          <a:solidFill>
            <a:srgbClr val="0A2A5E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744968" y="1554480"/>
            <a:ext cx="3703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traffic grows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48640" y="2084832"/>
            <a:ext cx="11064240" cy="640080"/>
          </a:xfrm>
          <a:prstGeom prst="roundRect">
            <a:avLst>
              <a:gd name="adj" fmla="val 8571"/>
            </a:avLst>
          </a:prstGeom>
          <a:solidFill>
            <a:srgbClr val="F4F7FC"/>
          </a:solidFill>
          <a:ln w="12700">
            <a:solidFill>
              <a:srgbClr val="D5E1F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58368" y="2084832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A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Node process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4270248" y="2084832"/>
            <a:ext cx="3154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and cheap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7744968" y="2084832"/>
            <a:ext cx="3703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Several copies behind a load balancer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48640" y="2788920"/>
            <a:ext cx="11064240" cy="64008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D5E1F2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58368" y="278892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A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In-memory cache and rate limiter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4270248" y="2788920"/>
            <a:ext cx="3154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extra service to run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7744968" y="2788920"/>
            <a:ext cx="3703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both to Redis so the copies share them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48640" y="3493008"/>
            <a:ext cx="11064240" cy="640080"/>
          </a:xfrm>
          <a:prstGeom prst="roundRect">
            <a:avLst>
              <a:gd name="adj" fmla="val 8571"/>
            </a:avLst>
          </a:prstGeom>
          <a:solidFill>
            <a:srgbClr val="F4F7FC"/>
          </a:solidFill>
          <a:ln w="12700">
            <a:solidFill>
              <a:srgbClr val="D5E1F2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58368" y="3493008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A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Last-room race: recount after saving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4270248" y="3493008"/>
            <a:ext cx="3154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counter to drift, closes the common race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7744968" y="3493008"/>
            <a:ext cx="3703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MongoDB transaction or an atomic counter per room per night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548640" y="4197096"/>
            <a:ext cx="11064240" cy="64008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D5E1F2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58368" y="4197096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A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hotel prices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4270248" y="4197096"/>
            <a:ext cx="3154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free hotel price API exists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7744968" y="4197096"/>
            <a:ext cx="3703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hotel partner API or a hotel-owner portal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548640" y="4901184"/>
            <a:ext cx="11064240" cy="640080"/>
          </a:xfrm>
          <a:prstGeom prst="roundRect">
            <a:avLst>
              <a:gd name="adj" fmla="val 8571"/>
            </a:avLst>
          </a:prstGeom>
          <a:solidFill>
            <a:srgbClr val="F4F7FC"/>
          </a:solidFill>
          <a:ln w="12700">
            <a:solidFill>
              <a:srgbClr val="D5E1F2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58368" y="4901184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A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Emails sent inside the API process</a:t>
            </a:r>
            <a:endParaRPr lang="en-US" sz="1400" dirty="0"/>
          </a:p>
        </p:txBody>
      </p:sp>
      <p:sp>
        <p:nvSpPr>
          <p:cNvPr id="30" name="Text 28"/>
          <p:cNvSpPr txBox="1"/>
          <p:nvPr/>
        </p:nvSpPr>
        <p:spPr>
          <a:xfrm>
            <a:off x="4270248" y="4901184"/>
            <a:ext cx="3154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Simple, and off without SMTP</a:t>
            </a:r>
            <a:endParaRPr lang="en-US" sz="1400" dirty="0"/>
          </a:p>
        </p:txBody>
      </p:sp>
      <p:sp>
        <p:nvSpPr>
          <p:cNvPr id="31" name="Text 29"/>
          <p:cNvSpPr txBox="1"/>
          <p:nvPr/>
        </p:nvSpPr>
        <p:spPr>
          <a:xfrm>
            <a:off x="7744968" y="4901184"/>
            <a:ext cx="3703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from a queue with retries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548640" y="5605272"/>
            <a:ext cx="11064240" cy="64008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D5E1F2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658368" y="5605272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A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city of a multi-city trip is paid separately</a:t>
            </a:r>
            <a:endParaRPr lang="en-US" sz="1400" dirty="0"/>
          </a:p>
        </p:txBody>
      </p:sp>
      <p:sp>
        <p:nvSpPr>
          <p:cNvPr id="34" name="Text 32"/>
          <p:cNvSpPr txBox="1"/>
          <p:nvPr/>
        </p:nvSpPr>
        <p:spPr>
          <a:xfrm>
            <a:off x="4270248" y="5605272"/>
            <a:ext cx="3154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Keeps the payment code simple and safe</a:t>
            </a:r>
            <a:endParaRPr lang="en-US" sz="1400" dirty="0"/>
          </a:p>
        </p:txBody>
      </p:sp>
      <p:sp>
        <p:nvSpPr>
          <p:cNvPr id="35" name="Text 33"/>
          <p:cNvSpPr txBox="1"/>
          <p:nvPr/>
        </p:nvSpPr>
        <p:spPr>
          <a:xfrm>
            <a:off x="7744968" y="5605272"/>
            <a:ext cx="3703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combined payment for the whole trip</a:t>
            </a:r>
            <a:endParaRPr lang="en-US" sz="1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61A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decisions that shape VOYARA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88720"/>
            <a:ext cx="11064240" cy="4114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one trades a little flexibility for something simple and safe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3611880" cy="2011680"/>
          </a:xfrm>
          <a:prstGeom prst="roundRect">
            <a:avLst>
              <a:gd name="adj" fmla="val 7273"/>
            </a:avLst>
          </a:prstGeom>
          <a:solidFill>
            <a:srgbClr val="0F3470"/>
          </a:solidFill>
          <a:ln w="12700">
            <a:solidFill>
              <a:srgbClr val="1E4C9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49808" y="2075688"/>
            <a:ext cx="457200" cy="457200"/>
          </a:xfrm>
          <a:prstGeom prst="ellipse">
            <a:avLst/>
          </a:prstGeom>
          <a:solidFill>
            <a:srgbClr val="FFD24D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49808" y="20756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A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749808" y="265176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server decides the price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749808" y="3108960"/>
            <a:ext cx="3200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browser cannot change what is charged.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297680" y="1874520"/>
            <a:ext cx="3611880" cy="2011680"/>
          </a:xfrm>
          <a:prstGeom prst="roundRect">
            <a:avLst>
              <a:gd name="adj" fmla="val 7273"/>
            </a:avLst>
          </a:prstGeom>
          <a:solidFill>
            <a:srgbClr val="0F3470"/>
          </a:solidFill>
          <a:ln w="12700">
            <a:solidFill>
              <a:srgbClr val="1E4C9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498848" y="2075688"/>
            <a:ext cx="457200" cy="457200"/>
          </a:xfrm>
          <a:prstGeom prst="ellipse">
            <a:avLst/>
          </a:prstGeom>
          <a:solidFill>
            <a:srgbClr val="FFD24D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498848" y="20756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A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4498848" y="265176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process in production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4498848" y="3108960"/>
            <a:ext cx="3200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CORS to manage, and simple to host.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8046720" y="1874520"/>
            <a:ext cx="3611880" cy="2011680"/>
          </a:xfrm>
          <a:prstGeom prst="roundRect">
            <a:avLst>
              <a:gd name="adj" fmla="val 7273"/>
            </a:avLst>
          </a:prstGeom>
          <a:solidFill>
            <a:srgbClr val="0F3470"/>
          </a:solidFill>
          <a:ln w="12700">
            <a:solidFill>
              <a:srgbClr val="1E4C9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247888" y="2075688"/>
            <a:ext cx="457200" cy="457200"/>
          </a:xfrm>
          <a:prstGeom prst="ellipse">
            <a:avLst/>
          </a:prstGeom>
          <a:solidFill>
            <a:srgbClr val="FFD24D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247888" y="20756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A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8247888" y="265176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Availability is computed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8247888" y="3108960"/>
            <a:ext cx="3200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counter to drift, and cancelling just works.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548640" y="4114800"/>
            <a:ext cx="3611880" cy="2011680"/>
          </a:xfrm>
          <a:prstGeom prst="roundRect">
            <a:avLst>
              <a:gd name="adj" fmla="val 7273"/>
            </a:avLst>
          </a:prstGeom>
          <a:solidFill>
            <a:srgbClr val="0F3470"/>
          </a:solidFill>
          <a:ln w="12700">
            <a:solidFill>
              <a:srgbClr val="1E4C9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49808" y="4315968"/>
            <a:ext cx="457200" cy="457200"/>
          </a:xfrm>
          <a:prstGeom prst="ellipse">
            <a:avLst/>
          </a:prstGeom>
          <a:solidFill>
            <a:srgbClr val="FFD24D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749808" y="43159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A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749808" y="489204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trip lives in the browser</a:t>
            </a:r>
            <a:endParaRPr lang="en-US" sz="1700" dirty="0"/>
          </a:p>
        </p:txBody>
      </p:sp>
      <p:sp>
        <p:nvSpPr>
          <p:cNvPr id="23" name="Text 21"/>
          <p:cNvSpPr txBox="1"/>
          <p:nvPr/>
        </p:nvSpPr>
        <p:spPr>
          <a:xfrm>
            <a:off x="749808" y="5349240"/>
            <a:ext cx="3200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half-made bookings in the database.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4297680" y="4114800"/>
            <a:ext cx="3611880" cy="2011680"/>
          </a:xfrm>
          <a:prstGeom prst="roundRect">
            <a:avLst>
              <a:gd name="adj" fmla="val 7273"/>
            </a:avLst>
          </a:prstGeom>
          <a:solidFill>
            <a:srgbClr val="0F3470"/>
          </a:solidFill>
          <a:ln w="12700">
            <a:solidFill>
              <a:srgbClr val="1E4C9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498848" y="4315968"/>
            <a:ext cx="457200" cy="457200"/>
          </a:xfrm>
          <a:prstGeom prst="ellipse">
            <a:avLst/>
          </a:prstGeom>
          <a:solidFill>
            <a:srgbClr val="FFD24D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4498848" y="43159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A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27" name="Text 25"/>
          <p:cNvSpPr txBox="1"/>
          <p:nvPr/>
        </p:nvSpPr>
        <p:spPr>
          <a:xfrm>
            <a:off x="4498848" y="489204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Bookings copy hotel and price data</a:t>
            </a:r>
            <a:endParaRPr lang="en-US" sz="1700" dirty="0"/>
          </a:p>
        </p:txBody>
      </p:sp>
      <p:sp>
        <p:nvSpPr>
          <p:cNvPr id="28" name="Text 26"/>
          <p:cNvSpPr txBox="1"/>
          <p:nvPr/>
        </p:nvSpPr>
        <p:spPr>
          <a:xfrm>
            <a:off x="4498848" y="5349240"/>
            <a:ext cx="3200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History never changes when a hotel or price changes.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8046720" y="4114800"/>
            <a:ext cx="3611880" cy="2011680"/>
          </a:xfrm>
          <a:prstGeom prst="roundRect">
            <a:avLst>
              <a:gd name="adj" fmla="val 7273"/>
            </a:avLst>
          </a:prstGeom>
          <a:solidFill>
            <a:srgbClr val="0F3470"/>
          </a:solidFill>
          <a:ln w="12700">
            <a:solidFill>
              <a:srgbClr val="1E4C9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247888" y="4315968"/>
            <a:ext cx="457200" cy="457200"/>
          </a:xfrm>
          <a:prstGeom prst="ellipse">
            <a:avLst/>
          </a:prstGeom>
          <a:solidFill>
            <a:srgbClr val="FFD24D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8247888" y="43159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A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800" dirty="0"/>
          </a:p>
        </p:txBody>
      </p:sp>
      <p:sp>
        <p:nvSpPr>
          <p:cNvPr id="32" name="Text 30"/>
          <p:cNvSpPr txBox="1"/>
          <p:nvPr/>
        </p:nvSpPr>
        <p:spPr>
          <a:xfrm>
            <a:off x="8247888" y="489204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Outside data is a helper</a:t>
            </a:r>
            <a:endParaRPr lang="en-US" sz="1700" dirty="0"/>
          </a:p>
        </p:txBody>
      </p:sp>
      <p:sp>
        <p:nvSpPr>
          <p:cNvPr id="33" name="Text 31"/>
          <p:cNvSpPr txBox="1"/>
          <p:nvPr/>
        </p:nvSpPr>
        <p:spPr>
          <a:xfrm>
            <a:off x="8247888" y="5349240"/>
            <a:ext cx="3200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Curated places and saved hotels keep working.</a:t>
            </a:r>
            <a:endParaRPr lang="en-US" sz="1400" dirty="0"/>
          </a:p>
        </p:txBody>
      </p:sp>
      <p:sp>
        <p:nvSpPr>
          <p:cNvPr id="34" name="Text 32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FA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VOYARA  ·  System design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VOYARA system design</dc:title>
  <dc:subject>System design of the VOYARA travel and booking portal</dc:subject>
  <dc:creator>VOYARA</dc:creator>
  <cp:lastModifiedBy>VOYARA</cp:lastModifiedBy>
  <cp:revision>1</cp:revision>
  <dcterms:created xsi:type="dcterms:W3CDTF">2026-10-28T08:02:05Z</dcterms:created>
  <dcterms:modified xsi:type="dcterms:W3CDTF">2026-10-28T08:02:05Z</dcterms:modified>
</cp:coreProperties>
</file>